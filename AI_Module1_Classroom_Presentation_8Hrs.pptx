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457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457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DBE6F5"/>
                </a:solidFill>
                <a:latin typeface="Calibri"/>
              </a:rPr>
              <a:t>VISVESVARAYA TECHNOLOGICAL UNIVERSITY, BELAGAVI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9601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B9CBE6"/>
                </a:solidFill>
                <a:latin typeface="Calibri"/>
              </a:rPr>
              <a:t>B.E./B.Tech • Computer Science &amp; Engineering • 2025-2026 Scheme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C9A24A"/>
                </a:solidFill>
                <a:latin typeface="Calibri"/>
              </a:rPr>
              <a:t>MODULE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ARTIFICIAL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0">
                <a:solidFill>
                  <a:srgbClr val="E8EEF8"/>
                </a:solidFill>
                <a:latin typeface="Calibri"/>
              </a:rPr>
              <a:t>Introduction to AI and Applications (1BAIA103/203)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3484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CDDDEF"/>
                </a:solidFill>
                <a:latin typeface="Calibri"/>
              </a:rPr>
              <a:t>Classroom Teaching Slides • 8-Hour Lesson Plan</a:t>
            </a:r>
          </a:p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CDDDEF"/>
                </a:solidFill>
                <a:latin typeface="Calibri"/>
              </a:rPr>
              <a:t>Machine Intelligence · Knowledge Representation · Search Algorithms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C9A24A"/>
                </a:solidFill>
                <a:latin typeface="Calibri"/>
              </a:rPr>
              <a:t>Based on notes by Dr. Lokesh M R | Prepared for UG classroom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8-Hour Lesson Plan — 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VTU Syllabus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017520"/>
                <a:gridCol w="7315200"/>
              </a:tblGrid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Hour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Key Coverage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7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Introduction to AI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Definitions, how AI works, advantages/limitations, history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7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Types of AI; AI vs ML/DL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Weak/Strong AI; reactive to self-aware; AI-ML-DL relationship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7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Intelligence &amp; Agents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Gardner's intelligence; components; rational agents; PEAS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7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Agent types &amp; Environments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Reflex/model/goal/utility/learning agents; environment types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7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Uninformed Search 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Search problem; DFS, DLS, BFS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76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Uninformed Search II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UCS, IDDFS, Bidirectional; comparison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76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Informed Search &amp; KR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Heuristics, greedy best-first; knowledge representation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76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Knowledge-Based Agents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KBA architecture, TELL/ASK/PERFORM, types of knowledge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Course Outcomes — After 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>
                <a:solidFill>
                  <a:srgbClr val="C9A24A"/>
                </a:solidFill>
              </a:rPr>
              <a:t>▪  </a:t>
            </a:r>
            <a:r>
              <a:rPr sz="1800" b="1">
                <a:solidFill>
                  <a:srgbClr val="1F3764"/>
                </a:solidFill>
                <a:latin typeface="Calibri"/>
              </a:rPr>
              <a:t>CO1: </a:t>
            </a:r>
            <a:r>
              <a:rPr sz="1800">
                <a:solidFill>
                  <a:srgbClr val="444444"/>
                </a:solidFill>
                <a:latin typeface="Calibri"/>
              </a:rPr>
              <a:t>Define AI and trace its historical evolution and key milestones.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>
                <a:solidFill>
                  <a:srgbClr val="C9A24A"/>
                </a:solidFill>
              </a:rPr>
              <a:t>▪  </a:t>
            </a:r>
            <a:r>
              <a:rPr sz="1800" b="1">
                <a:solidFill>
                  <a:srgbClr val="1F3764"/>
                </a:solidFill>
                <a:latin typeface="Calibri"/>
              </a:rPr>
              <a:t>CO2: </a:t>
            </a:r>
            <a:r>
              <a:rPr sz="1800">
                <a:solidFill>
                  <a:srgbClr val="444444"/>
                </a:solidFill>
                <a:latin typeface="Calibri"/>
              </a:rPr>
              <a:t>Classify AI systems by capability and functionality with real examples.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>
                <a:solidFill>
                  <a:srgbClr val="C9A24A"/>
                </a:solidFill>
              </a:rPr>
              <a:t>▪  </a:t>
            </a:r>
            <a:r>
              <a:rPr sz="1800" b="1">
                <a:solidFill>
                  <a:srgbClr val="1F3764"/>
                </a:solidFill>
                <a:latin typeface="Calibri"/>
              </a:rPr>
              <a:t>CO3: </a:t>
            </a:r>
            <a:r>
              <a:rPr sz="1800">
                <a:solidFill>
                  <a:srgbClr val="444444"/>
                </a:solidFill>
                <a:latin typeface="Calibri"/>
              </a:rPr>
              <a:t>Distinguish AI, ML, deep learning, augmented intelligence and cognitive computing.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>
                <a:solidFill>
                  <a:srgbClr val="C9A24A"/>
                </a:solidFill>
              </a:rPr>
              <a:t>▪  </a:t>
            </a:r>
            <a:r>
              <a:rPr sz="1800" b="1">
                <a:solidFill>
                  <a:srgbClr val="1F3764"/>
                </a:solidFill>
                <a:latin typeface="Calibri"/>
              </a:rPr>
              <a:t>CO4: </a:t>
            </a:r>
            <a:r>
              <a:rPr sz="1800">
                <a:solidFill>
                  <a:srgbClr val="444444"/>
                </a:solidFill>
                <a:latin typeface="Calibri"/>
              </a:rPr>
              <a:t>Design rational agents using PEAS and classify task environments.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>
                <a:solidFill>
                  <a:srgbClr val="C9A24A"/>
                </a:solidFill>
              </a:rPr>
              <a:t>▪  </a:t>
            </a:r>
            <a:r>
              <a:rPr sz="1800" b="1">
                <a:solidFill>
                  <a:srgbClr val="1F3764"/>
                </a:solidFill>
                <a:latin typeface="Calibri"/>
              </a:rPr>
              <a:t>CO5: </a:t>
            </a:r>
            <a:r>
              <a:rPr sz="1800">
                <a:solidFill>
                  <a:srgbClr val="444444"/>
                </a:solidFill>
                <a:latin typeface="Calibri"/>
              </a:rPr>
              <a:t>Apply and compare uninformed search algorithms (DFS, BFS, UCS, IDDFS, bidirectional).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>
                <a:solidFill>
                  <a:srgbClr val="C9A24A"/>
                </a:solidFill>
              </a:rPr>
              <a:t>▪  </a:t>
            </a:r>
            <a:r>
              <a:rPr sz="1800" b="1">
                <a:solidFill>
                  <a:srgbClr val="1F3764"/>
                </a:solidFill>
                <a:latin typeface="Calibri"/>
              </a:rPr>
              <a:t>CO6: </a:t>
            </a:r>
            <a:r>
              <a:rPr sz="1800">
                <a:solidFill>
                  <a:srgbClr val="444444"/>
                </a:solidFill>
                <a:latin typeface="Calibri"/>
              </a:rPr>
              <a:t>Apply informed (heuristic/greedy) search and explain knowledge representation.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800" b="1">
                <a:solidFill>
                  <a:srgbClr val="C9A24A"/>
                </a:solidFill>
              </a:rPr>
              <a:t>▪  </a:t>
            </a:r>
            <a:r>
              <a:rPr sz="1800" b="1">
                <a:solidFill>
                  <a:srgbClr val="1F3764"/>
                </a:solidFill>
                <a:latin typeface="Calibri"/>
              </a:rPr>
              <a:t>CO7: </a:t>
            </a:r>
            <a:r>
              <a:rPr sz="1800">
                <a:solidFill>
                  <a:srgbClr val="444444"/>
                </a:solidFill>
                <a:latin typeface="Calibri"/>
              </a:rPr>
              <a:t>Describe knowledge-based agents and the types of knowledge used in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C9A24A"/>
                </a:solidFill>
                <a:latin typeface="Calibri"/>
              </a:rPr>
              <a:t>HOUR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Introduction to 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CDDDEF"/>
                </a:solidFill>
                <a:latin typeface="Calibri"/>
              </a:rPr>
              <a:t>Definitions · How AI works · Advantages &amp; limitations ·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What is Artificial Intelligence?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6675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9A24A"/>
                </a:solidFill>
              </a:rPr>
              <a:t>▪  </a:t>
            </a:r>
            <a:r>
              <a:rPr sz="1600" b="1">
                <a:solidFill>
                  <a:srgbClr val="1F3764"/>
                </a:solidFill>
                <a:latin typeface="Calibri"/>
              </a:rPr>
              <a:t>McCarthy (2004): </a:t>
            </a:r>
            <a:r>
              <a:rPr sz="1600">
                <a:solidFill>
                  <a:srgbClr val="444444"/>
                </a:solidFill>
                <a:latin typeface="Calibri"/>
              </a:rPr>
              <a:t>science &amp; engineering of making intelligent machines, especially intelligent computer programs.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9A24A"/>
                </a:solidFill>
              </a:rPr>
              <a:t>▪  </a:t>
            </a:r>
            <a:r>
              <a:rPr sz="1600" b="1">
                <a:solidFill>
                  <a:srgbClr val="1F3764"/>
                </a:solidFill>
                <a:latin typeface="Calibri"/>
              </a:rPr>
              <a:t>Turing (1950): </a:t>
            </a:r>
            <a:r>
              <a:rPr sz="1600">
                <a:solidFill>
                  <a:srgbClr val="444444"/>
                </a:solidFill>
                <a:latin typeface="Calibri"/>
              </a:rPr>
              <a:t>'Can machines think?' → Turing Test (interrogator cannot tell machine from human by text).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9A24A"/>
                </a:solidFill>
              </a:rPr>
              <a:t>▪  </a:t>
            </a:r>
            <a:r>
              <a:rPr sz="1600" b="1">
                <a:solidFill>
                  <a:srgbClr val="1F3764"/>
                </a:solidFill>
                <a:latin typeface="Calibri"/>
              </a:rPr>
              <a:t>Layman: </a:t>
            </a:r>
            <a:r>
              <a:rPr sz="1600">
                <a:solidFill>
                  <a:srgbClr val="444444"/>
                </a:solidFill>
                <a:latin typeface="Calibri"/>
              </a:rPr>
              <a:t>machines mimic human actions; learn from experience, adapt, perform human-like tasks.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9A24A"/>
                </a:solidFill>
              </a:rPr>
              <a:t>▪  </a:t>
            </a:r>
            <a:r>
              <a:rPr sz="1600" b="1">
                <a:solidFill>
                  <a:srgbClr val="1F3764"/>
                </a:solidFill>
                <a:latin typeface="Calibri"/>
              </a:rPr>
              <a:t>Researcher: </a:t>
            </a:r>
            <a:r>
              <a:rPr sz="1600">
                <a:solidFill>
                  <a:srgbClr val="444444"/>
                </a:solidFill>
                <a:latin typeface="Calibri"/>
              </a:rPr>
              <a:t>algorithms that produce results without explicit instruction — think/act rationally &amp; humanely.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9A24A"/>
                </a:solidFill>
              </a:rPr>
              <a:t>▪  </a:t>
            </a:r>
            <a:r>
              <a:rPr sz="1600" b="1">
                <a:solidFill>
                  <a:srgbClr val="1F3764"/>
                </a:solidFill>
                <a:latin typeface="Calibri"/>
              </a:rPr>
              <a:t>NITI Aayog: </a:t>
            </a:r>
            <a:r>
              <a:rPr sz="1600">
                <a:solidFill>
                  <a:srgbClr val="444444"/>
                </a:solidFill>
                <a:latin typeface="Calibri"/>
              </a:rPr>
              <a:t>ability to perform cognitive tasks — think, perceive, learn, solve problems, decide.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371600"/>
            <a:ext cx="4114800" cy="42062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155448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F3764"/>
                </a:solidFill>
                <a:latin typeface="Calibri"/>
              </a:rPr>
              <a:t>Key Languages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01168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>
                <a:solidFill>
                  <a:srgbClr val="444444"/>
                </a:solidFill>
                <a:latin typeface="Calibri"/>
              </a:rPr>
              <a:t>R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>
                <a:solidFill>
                  <a:srgbClr val="444444"/>
                </a:solidFill>
                <a:latin typeface="Calibri"/>
              </a:rPr>
              <a:t>Python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>
                <a:solidFill>
                  <a:srgbClr val="444444"/>
                </a:solidFill>
                <a:latin typeface="Calibri"/>
              </a:rPr>
              <a:t>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29184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F3764"/>
                </a:solidFill>
                <a:latin typeface="Calibri"/>
              </a:rPr>
              <a:t>Examples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749039"/>
            <a:ext cx="37490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Chess-playing computers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Self-driving cars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Voice assistants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NLP / chatbots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How Does AI 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444444"/>
                </a:solidFill>
                <a:latin typeface="Calibri"/>
              </a:rPr>
              <a:t>Large labelled training data → find correlations/patterns → predict future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20240"/>
            <a:ext cx="187451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Labelled
Data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43159" y="2221992"/>
            <a:ext cx="382911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46070" y="1920240"/>
            <a:ext cx="187451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Learn
Patterns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740589" y="2221992"/>
            <a:ext cx="382911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43500" y="1920240"/>
            <a:ext cx="187451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Reason
(algorithm)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38019" y="2221992"/>
            <a:ext cx="382911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40930" y="1920240"/>
            <a:ext cx="187451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Self-correct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335449" y="2221992"/>
            <a:ext cx="382911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738361" y="1920240"/>
            <a:ext cx="1874519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Predict /
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9184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9A24A"/>
                </a:solidFill>
              </a:rPr>
              <a:t>▪  </a:t>
            </a:r>
            <a:r>
              <a:rPr sz="1600" b="1">
                <a:solidFill>
                  <a:srgbClr val="1F3764"/>
                </a:solidFill>
                <a:latin typeface="Calibri"/>
              </a:rPr>
              <a:t>Learning: </a:t>
            </a:r>
            <a:r>
              <a:rPr sz="1600">
                <a:solidFill>
                  <a:srgbClr val="444444"/>
                </a:solidFill>
                <a:latin typeface="Calibri"/>
              </a:rPr>
              <a:t>acquire data + rules (algorithms) to turn it into actionable information.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9A24A"/>
                </a:solidFill>
              </a:rPr>
              <a:t>▪  </a:t>
            </a:r>
            <a:r>
              <a:rPr sz="1600" b="1">
                <a:solidFill>
                  <a:srgbClr val="1F3764"/>
                </a:solidFill>
                <a:latin typeface="Calibri"/>
              </a:rPr>
              <a:t>Reasoning: </a:t>
            </a:r>
            <a:r>
              <a:rPr sz="1600">
                <a:solidFill>
                  <a:srgbClr val="444444"/>
                </a:solidFill>
                <a:latin typeface="Calibri"/>
              </a:rPr>
              <a:t>choose the right algorithm to reach the desired outcome.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9A24A"/>
                </a:solidFill>
              </a:rPr>
              <a:t>▪  </a:t>
            </a:r>
            <a:r>
              <a:rPr sz="1600" b="1">
                <a:solidFill>
                  <a:srgbClr val="1F3764"/>
                </a:solidFill>
                <a:latin typeface="Calibri"/>
              </a:rPr>
              <a:t>Self-correction: </a:t>
            </a:r>
            <a:r>
              <a:rPr sz="1600">
                <a:solidFill>
                  <a:srgbClr val="444444"/>
                </a:solidFill>
                <a:latin typeface="Calibri"/>
              </a:rPr>
              <a:t>continually refine algorithms for accurate results.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solidFill>
            <a:srgbClr val="FD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B05500"/>
                </a:solidFill>
                <a:latin typeface="Calibri"/>
              </a:rPr>
              <a:t>Case study: Uber uses ML to predict rider demand and dispatch drivers before they are needed.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Advantages &amp; Disadvantages 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394960" cy="457200"/>
          </a:xfrm>
          <a:prstGeom prst="rect">
            <a:avLst/>
          </a:prstGeom>
          <a:solidFill>
            <a:srgbClr val="1E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5394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Handles data-intensive tasks well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Processes huge data fast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Consistent, accurate results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Available 24×7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Optimises resources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Automates complex processes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Predicts maintenance (less downtime)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Faster, higher-quality new products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5394960" cy="457200"/>
          </a:xfrm>
          <a:prstGeom prst="rect">
            <a:avLst/>
          </a:prstGeom>
          <a:solidFill>
            <a:srgbClr val="B05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280160"/>
            <a:ext cx="53949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Disadvantages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High development/infrastructure cost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Requires technical expertise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Shortage of trained professionals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Bad/incomplete data → disastrous results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Limited ability to generalise across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History of AI — Key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9784080"/>
              </a:tblGrid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Milestone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1943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McCulloch &amp; Pitts — first neural-network model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1950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Turing Test; Shannon's chess paper; Asimov's Three Laws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1956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John McCarthy coins 'AI' at Dartmouth — birth of AI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1958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McCarthy develops LISP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1959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Newell, Simon &amp; Shaw build GPS; Samuel coins 'machine learning'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1966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ELIZA chatbot; 1974–80 First AI Winter (funding cuts)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1980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DEC's R1/XCON expert system; 1982–93 FGCS &amp; Second AI Winter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1997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IBM Deep Blue beats Kasparov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2011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Apple Siri; IBM Watson wins Jeopardy!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2016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DeepMind AlphaGo defeats Lee Sedol; Sophia the robot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372793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2018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Google BERT; Waymo One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7280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2020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Baidu LinearFold for COVID-19 vaccine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Hour 1 — Recap &amp;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9A24A"/>
                </a:solidFill>
              </a:rPr>
              <a:t>▪  </a:t>
            </a:r>
            <a:r>
              <a:rPr sz="1700" b="1">
                <a:solidFill>
                  <a:srgbClr val="1F3764"/>
                </a:solidFill>
                <a:latin typeface="Calibri"/>
              </a:rPr>
              <a:t>Recall: </a:t>
            </a:r>
            <a:r>
              <a:rPr sz="1700">
                <a:solidFill>
                  <a:srgbClr val="444444"/>
                </a:solidFill>
                <a:latin typeface="Calibri"/>
              </a:rPr>
              <a:t>Who coined 'AI' and when? (McCarthy, 1956)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9A24A"/>
                </a:solidFill>
              </a:rPr>
              <a:t>▪  </a:t>
            </a:r>
            <a:r>
              <a:rPr sz="1700" b="1">
                <a:solidFill>
                  <a:srgbClr val="1F3764"/>
                </a:solidFill>
                <a:latin typeface="Calibri"/>
              </a:rPr>
              <a:t>Understand: </a:t>
            </a:r>
            <a:r>
              <a:rPr sz="1700">
                <a:solidFill>
                  <a:srgbClr val="444444"/>
                </a:solidFill>
                <a:latin typeface="Calibri"/>
              </a:rPr>
              <a:t>three cognitive skills of AI programming (learning, reasoning, self-correction).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9A24A"/>
                </a:solidFill>
              </a:rPr>
              <a:t>▪  </a:t>
            </a:r>
            <a:r>
              <a:rPr sz="1700" b="1">
                <a:solidFill>
                  <a:srgbClr val="1F3764"/>
                </a:solidFill>
                <a:latin typeface="Calibri"/>
              </a:rPr>
              <a:t>Apply: </a:t>
            </a:r>
            <a:r>
              <a:rPr sz="1700">
                <a:solidFill>
                  <a:srgbClr val="444444"/>
                </a:solidFill>
                <a:latin typeface="Calibri"/>
              </a:rPr>
              <a:t>give two real applications where AI performs human-intelligence tasks.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57600"/>
            <a:ext cx="11064240" cy="2377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3764"/>
                </a:solidFill>
                <a:latin typeface="Calibri"/>
              </a:rPr>
              <a:t>VTU / GATE-style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Define AI as per John McCarthy and NITI Aayog. (VTU, 6/8 marks)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Explain three cognitive skills of AI with a case study. (VTU, 8 marks)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GATE: The term AI was coined in — (A) 1950 (B) 1956 (C) 1969 (D) 1980.  Ans: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C9A24A"/>
                </a:solidFill>
                <a:latin typeface="Calibri"/>
              </a:rPr>
              <a:t>HOUR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Types of AI · AI vs ML/DL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CDDDEF"/>
                </a:solidFill>
                <a:latin typeface="Calibri"/>
              </a:rPr>
              <a:t>Weak/Strong · Reactive to Self-aware · Augmented &amp; Cognitive Computing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Types of AI — by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46304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Artificial
Intelligence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60480" y="1810512"/>
            <a:ext cx="87440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754880" y="146304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Weak (Narrow)
AI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518080" y="1810512"/>
            <a:ext cx="87440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0" y="146304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Strong AI
(AGI / ASI)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26080"/>
            <a:ext cx="5394960" cy="3108960"/>
          </a:xfrm>
          <a:prstGeom prst="rect">
            <a:avLst/>
          </a:prstGeom>
          <a:solidFill>
            <a:srgbClr val="F3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E6B3A"/>
                </a:solidFill>
                <a:latin typeface="Calibri"/>
              </a:rPr>
              <a:t>Weak / Narrow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Specific task within a limited context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Most successful AI today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Uses supervised/unsupervised learning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Examples: Siri, Alexa, Google Search, Watson, self-driving cars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926080"/>
            <a:ext cx="5394960" cy="3108960"/>
          </a:xfrm>
          <a:prstGeom prst="rect">
            <a:avLst/>
          </a:prstGeom>
          <a:solidFill>
            <a:srgbClr val="F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0632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5B2C8A"/>
                </a:solidFill>
                <a:latin typeface="Calibri"/>
              </a:rPr>
              <a:t>Strong AI (AGI/ASI)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2044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Resembles the human brain across tasks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Cognitive skills + fuzzy logic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Vision, speech, decisions, translation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Currently sci-fi (e.g., HAL in 2001); quantum computing may help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Types of AI — by Functionality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7589520"/>
              </a:tblGrid>
              <a:tr h="96926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Memory?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Description / Example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764"/>
                          </a:solidFill>
                          <a:latin typeface="Calibri"/>
                        </a:rPr>
                        <a:t>Reactive Machines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No memory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Perceive &amp; react to current state; no learning. Deep Blue, AlphaGo*.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764"/>
                          </a:solidFill>
                          <a:latin typeface="Calibri"/>
                        </a:rPr>
                        <a:t>Limited Memory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Short-term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Use recent data briefly; autonomous vehicles. Models: RL, LSTM, E-GAN.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764"/>
                          </a:solidFill>
                          <a:latin typeface="Calibri"/>
                        </a:rPr>
                        <a:t>Theory of Mind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Theoretical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Represent thoughts/emotions to understand behaviour; future AI.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96926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764"/>
                          </a:solidFill>
                          <a:latin typeface="Calibri"/>
                        </a:rPr>
                        <a:t>Self-Awareness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Future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Human-level consciousness; understands its own existence &amp; others' feelings.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AI vs Augmented Intelligence vs Cognitive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943600"/>
                <a:gridCol w="27432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Core idea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764"/>
                          </a:solidFill>
                          <a:latin typeface="Calibri"/>
                        </a:rPr>
                        <a:t>True AI (Strong/AGI)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Machines with human-like intelligence for complex tasks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AGI/ASI (aspirational)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764"/>
                          </a:solidFill>
                          <a:latin typeface="Calibri"/>
                        </a:rPr>
                        <a:t>Augmented Intelligence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Weak AI that assists/improves human decisions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Auto-highlight key business info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764"/>
                          </a:solidFill>
                          <a:latin typeface="Calibri"/>
                        </a:rPr>
                        <a:t>Cognitive Computing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Mimics/augments human thought processes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Watson-style assistants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1F3764"/>
                </a:solidFill>
                <a:latin typeface="Calibri"/>
              </a:rPr>
              <a:t>AI vs Machine Learning vs Deep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114800"/>
            <a:ext cx="3017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Artificial Intelligence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4800" y="4393692"/>
            <a:ext cx="46292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17720" y="4114800"/>
            <a:ext cx="3017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Machine Learning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655240" y="4393692"/>
            <a:ext cx="46292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4114800"/>
            <a:ext cx="3017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Deep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120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 b="1">
                <a:solidFill>
                  <a:srgbClr val="1F3764"/>
                </a:solidFill>
                <a:latin typeface="Calibri"/>
              </a:rPr>
              <a:t>AI is the superset; </a:t>
            </a:r>
            <a:r>
              <a:rPr sz="1400">
                <a:solidFill>
                  <a:srgbClr val="444444"/>
                </a:solidFill>
                <a:latin typeface="Calibri"/>
              </a:rPr>
              <a:t>ML is a subset (a tool to achieve AI); Deep Learning is a subset of ML using multi-layer neural nets.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 b="1">
                <a:solidFill>
                  <a:srgbClr val="1F3764"/>
                </a:solidFill>
                <a:latin typeface="Calibri"/>
              </a:rPr>
              <a:t>ML = </a:t>
            </a:r>
            <a:r>
              <a:rPr sz="1400">
                <a:solidFill>
                  <a:srgbClr val="444444"/>
                </a:solidFill>
                <a:latin typeface="Calibri"/>
              </a:rPr>
              <a:t>learn from data without being explicitly programmed (supervised / unsupervised).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Traditional Programming vs ML; Features 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Input + Program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80320" y="1559052"/>
            <a:ext cx="-22288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77440" y="132588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=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26240" y="1559052"/>
            <a:ext cx="-22288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23360" y="132588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488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444444"/>
                </a:solidFill>
                <a:latin typeface="Calibri"/>
              </a:rPr>
              <a:t>Traditional Programming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6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Input + Output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158160" y="1559052"/>
            <a:ext cx="-13144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6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=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895520" y="1559052"/>
            <a:ext cx="-13144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784080" y="1325880"/>
            <a:ext cx="1828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6B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Program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4884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E6B3A"/>
                </a:solidFill>
                <a:latin typeface="Calibri"/>
              </a:rPr>
              <a:t>Machine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743200"/>
            <a:ext cx="11064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>
                <a:solidFill>
                  <a:srgbClr val="444444"/>
                </a:solidFill>
                <a:latin typeface="Calibri"/>
              </a:rPr>
              <a:t>Autonomous — decides without human intervention; learns from data/experience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>
                <a:solidFill>
                  <a:srgbClr val="444444"/>
                </a:solidFill>
                <a:latin typeface="Calibri"/>
              </a:rPr>
              <a:t>Predicts &amp; adapts to patterns; continuously learns; reactive (perceive → act)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>
                <a:solidFill>
                  <a:srgbClr val="444444"/>
                </a:solidFill>
                <a:latin typeface="Calibri"/>
              </a:rPr>
              <a:t>Data-driven — cheap storage + fast CPU/GPU/TPU + deep-learning algorithms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>
                <a:solidFill>
                  <a:srgbClr val="444444"/>
                </a:solidFill>
                <a:latin typeface="Calibri"/>
              </a:rPr>
              <a:t>Accurate predictions from past experience can outperform humans (needs large labelled data)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>
                <a:solidFill>
                  <a:srgbClr val="444444"/>
                </a:solidFill>
                <a:latin typeface="Calibri"/>
              </a:rPr>
              <a:t>Futuristic — scope across domains keeps expanding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Hour 2 — Recap &amp;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9A24A"/>
                </a:solidFill>
              </a:rPr>
              <a:t>▪  </a:t>
            </a:r>
            <a:r>
              <a:rPr sz="1700" b="1">
                <a:solidFill>
                  <a:srgbClr val="1F3764"/>
                </a:solidFill>
                <a:latin typeface="Calibri"/>
              </a:rPr>
              <a:t>Classify: </a:t>
            </a:r>
            <a:r>
              <a:rPr sz="1700">
                <a:solidFill>
                  <a:srgbClr val="444444"/>
                </a:solidFill>
                <a:latin typeface="Calibri"/>
              </a:rPr>
              <a:t>Siri/Alexa (narrow weak AI); Deep Blue (reactive); self-driving car (limited memory).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9A24A"/>
                </a:solidFill>
              </a:rPr>
              <a:t>▪  </a:t>
            </a:r>
            <a:r>
              <a:rPr sz="1700" b="1">
                <a:solidFill>
                  <a:srgbClr val="1F3764"/>
                </a:solidFill>
                <a:latin typeface="Calibri"/>
              </a:rPr>
              <a:t>Contrast: </a:t>
            </a:r>
            <a:r>
              <a:rPr sz="1700">
                <a:solidFill>
                  <a:srgbClr val="444444"/>
                </a:solidFill>
                <a:latin typeface="Calibri"/>
              </a:rPr>
              <a:t>traditional program (Input+Program=Output) vs ML (Input+Output=Program).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9A24A"/>
                </a:solidFill>
              </a:rPr>
              <a:t>▪  </a:t>
            </a:r>
            <a:r>
              <a:rPr sz="1700" b="1">
                <a:solidFill>
                  <a:srgbClr val="1F3764"/>
                </a:solidFill>
                <a:latin typeface="Calibri"/>
              </a:rPr>
              <a:t>Order: </a:t>
            </a:r>
            <a:r>
              <a:rPr sz="1700">
                <a:solidFill>
                  <a:srgbClr val="444444"/>
                </a:solidFill>
                <a:latin typeface="Calibri"/>
              </a:rPr>
              <a:t>AI ⊃ ML ⊃ Deep Learning.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566160"/>
            <a:ext cx="11064240" cy="24688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033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3764"/>
                </a:solidFill>
                <a:latin typeface="Calibri"/>
              </a:rPr>
              <a:t>VTU / GATE-style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Differentiate weak AI and strong AI with examples. (VTU, 6 marks)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Explain four functionality-based types of AI. (VTU, 10 marks)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GATE: Deep learning is a subset of — (A) NLP (B) ML (C) Robotics.  Ans: B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Compare AI, augmented intelligence and cognitive computing. (VTU, 8 marks)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C9A24A"/>
                </a:solidFill>
                <a:latin typeface="Calibri"/>
              </a:rPr>
              <a:t>HOUR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Intelligence &amp; Rational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CDDDEF"/>
                </a:solidFill>
                <a:latin typeface="Calibri"/>
              </a:rPr>
              <a:t>Gardner's types · Components · Agent/environment · Rationality · PEAS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Defining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3764"/>
                </a:solidFill>
                <a:latin typeface="Calibri"/>
              </a:rPr>
              <a:t>Gardner's 7 types of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Linguistic — language (narrators)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Musical — pitch/rhythm (composers)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Logical-mathematical — abstract ideas (scientists)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Spatial — visual/3D (astronauts)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Bodily-kinesthetic — body control (players)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Intrapersonal — self-feelings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Interpersonal — others' feelings (interviewers)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34440"/>
            <a:ext cx="5303520" cy="4572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3764"/>
                </a:solidFill>
                <a:latin typeface="Calibri"/>
              </a:rPr>
              <a:t>Components of 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20240"/>
            <a:ext cx="914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Reasoning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335200" y="2199132"/>
            <a:ext cx="9716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52360" y="1920240"/>
            <a:ext cx="914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Learning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386760" y="2199132"/>
            <a:ext cx="9716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03920" y="1920240"/>
            <a:ext cx="914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Problem
Solving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438320" y="2199132"/>
            <a:ext cx="9716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55480" y="1920240"/>
            <a:ext cx="914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Perception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489880" y="2199132"/>
            <a:ext cx="9716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607040" y="1920240"/>
            <a:ext cx="914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Linguistic
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00400"/>
            <a:ext cx="493776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44444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08960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C9A24A"/>
                </a:solidFill>
              </a:rPr>
              <a:t>▪  </a:t>
            </a:r>
            <a:r>
              <a:rPr sz="1200" b="1">
                <a:solidFill>
                  <a:srgbClr val="1F3764"/>
                </a:solidFill>
                <a:latin typeface="Calibri"/>
              </a:rPr>
              <a:t>Reasoning: </a:t>
            </a:r>
            <a:r>
              <a:rPr sz="1200">
                <a:solidFill>
                  <a:srgbClr val="444444"/>
                </a:solidFill>
                <a:latin typeface="Calibri"/>
              </a:rPr>
              <a:t>inductive (specific→broad) vs deductive (general→specific).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C9A24A"/>
                </a:solidFill>
              </a:rPr>
              <a:t>▪  </a:t>
            </a:r>
            <a:r>
              <a:rPr sz="1200" b="1">
                <a:solidFill>
                  <a:srgbClr val="1F3764"/>
                </a:solidFill>
                <a:latin typeface="Calibri"/>
              </a:rPr>
              <a:t>Learning: </a:t>
            </a:r>
            <a:r>
              <a:rPr sz="1200">
                <a:solidFill>
                  <a:srgbClr val="444444"/>
                </a:solidFill>
                <a:latin typeface="Calibri"/>
              </a:rPr>
              <a:t>auditory, episodic, motor, observational, perceptual, relational, spatial, stimulus-response.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00" b="1">
                <a:solidFill>
                  <a:srgbClr val="C9A24A"/>
                </a:solidFill>
              </a:rPr>
              <a:t>▪  </a:t>
            </a:r>
            <a:r>
              <a:rPr sz="1200" b="1">
                <a:solidFill>
                  <a:srgbClr val="1F3764"/>
                </a:solidFill>
                <a:latin typeface="Calibri"/>
              </a:rPr>
              <a:t>Perception: </a:t>
            </a:r>
            <a:r>
              <a:rPr sz="1200">
                <a:solidFill>
                  <a:srgbClr val="444444"/>
                </a:solidFill>
                <a:latin typeface="Calibri"/>
              </a:rPr>
              <a:t>sense organs in humans; sensors in AI.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Human vs Machine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212080"/>
                <a:gridCol w="521208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Human Intelligence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Machine Intelligence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37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44444"/>
                          </a:solidFill>
                          <a:latin typeface="Calibri"/>
                        </a:rPr>
                        <a:t>Perceives by patterns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44444"/>
                          </a:solidFill>
                          <a:latin typeface="Calibri"/>
                        </a:rPr>
                        <a:t>Perceives by analysing data against rules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37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44444"/>
                          </a:solidFill>
                          <a:latin typeface="Calibri"/>
                        </a:rPr>
                        <a:t>Stores/recalls by patterns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44444"/>
                          </a:solidFill>
                          <a:latin typeface="Calibri"/>
                        </a:rPr>
                        <a:t>Uses search algorithms to store &amp; recall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37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44444"/>
                          </a:solidFill>
                          <a:latin typeface="Calibri"/>
                        </a:rPr>
                        <a:t>Deduces missing/distorted info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solidFill>
                            <a:srgbClr val="444444"/>
                          </a:solidFill>
                          <a:latin typeface="Calibri"/>
                        </a:rPr>
                        <a:t>Lacks high-accuracy deduction of missing info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4114800"/>
            <a:ext cx="11064240" cy="1920240"/>
          </a:xfrm>
          <a:prstGeom prst="rect">
            <a:avLst/>
          </a:prstGeom>
          <a:solidFill>
            <a:srgbClr val="FD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B05500"/>
                </a:solidFill>
                <a:latin typeface="Calibri"/>
              </a:rPr>
              <a:t>Reasoning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 b="1">
                <a:solidFill>
                  <a:srgbClr val="1F3764"/>
                </a:solidFill>
                <a:latin typeface="Calibri"/>
              </a:rPr>
              <a:t>Inductive: </a:t>
            </a:r>
            <a:r>
              <a:rPr sz="1400">
                <a:solidFill>
                  <a:srgbClr val="444444"/>
                </a:solidFill>
                <a:latin typeface="Calibri"/>
              </a:rPr>
              <a:t>'Manvi is a topper and studious; therefore all toppers are studious.' (may be false)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 b="1">
                <a:solidFill>
                  <a:srgbClr val="1F3764"/>
                </a:solidFill>
                <a:latin typeface="Calibri"/>
              </a:rPr>
              <a:t>Deductive: </a:t>
            </a:r>
            <a:r>
              <a:rPr sz="1400">
                <a:solidFill>
                  <a:srgbClr val="444444"/>
                </a:solidFill>
                <a:latin typeface="Calibri"/>
              </a:rPr>
              <a:t>'Students ≥80% are placed; Manan scored 90%; therefore Manan is placed.'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Agent and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371600"/>
            <a:ext cx="2468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SENSORS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317680" y="1673352"/>
            <a:ext cx="50864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6320" y="1371600"/>
            <a:ext cx="2468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AGENT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335200" y="1673352"/>
            <a:ext cx="50864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2468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EFFECTORS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 b="1">
                <a:solidFill>
                  <a:srgbClr val="1F3764"/>
                </a:solidFill>
                <a:latin typeface="Calibri"/>
              </a:rPr>
              <a:t>Agent: </a:t>
            </a:r>
            <a:r>
              <a:rPr sz="1500">
                <a:solidFill>
                  <a:srgbClr val="444444"/>
                </a:solidFill>
                <a:latin typeface="Calibri"/>
              </a:rPr>
              <a:t>anything that perceives and acts — person, robot, software.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 b="1">
                <a:solidFill>
                  <a:srgbClr val="1F3764"/>
                </a:solidFill>
                <a:latin typeface="Calibri"/>
              </a:rPr>
              <a:t>Sensors/effectors: </a:t>
            </a:r>
            <a:r>
              <a:rPr sz="1500">
                <a:solidFill>
                  <a:srgbClr val="444444"/>
                </a:solidFill>
                <a:latin typeface="Calibri"/>
              </a:rPr>
              <a:t>human (eyes/hands); robotic (cameras/motors); software (bit-strings in/out).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3931920"/>
          <a:ext cx="11064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764"/>
                          </a:solidFill>
                          <a:latin typeface="Calibri"/>
                        </a:rPr>
                        <a:t>Percept / Percept sequence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Input at an instant / all inputs received to date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764"/>
                          </a:solidFill>
                          <a:latin typeface="Calibri"/>
                        </a:rPr>
                        <a:t>Agent function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Maps percept sequence → action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764"/>
                          </a:solidFill>
                          <a:latin typeface="Calibri"/>
                        </a:rPr>
                        <a:t>Performance measure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Criterion of agent success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Rationality &amp; PEAS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 b="1">
                <a:solidFill>
                  <a:srgbClr val="1F3764"/>
                </a:solidFill>
                <a:latin typeface="Calibri"/>
              </a:rPr>
              <a:t>Rational agent: </a:t>
            </a:r>
            <a:r>
              <a:rPr sz="1500">
                <a:solidFill>
                  <a:srgbClr val="444444"/>
                </a:solidFill>
                <a:latin typeface="Calibri"/>
              </a:rPr>
              <a:t>does the 'right thing' to maximise performance given percept sequence + prior knowledge.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 b="1">
                <a:solidFill>
                  <a:srgbClr val="1F3764"/>
                </a:solidFill>
                <a:latin typeface="Calibri"/>
              </a:rPr>
              <a:t>Rationality depends on: </a:t>
            </a:r>
            <a:r>
              <a:rPr sz="1500">
                <a:solidFill>
                  <a:srgbClr val="444444"/>
                </a:solidFill>
                <a:latin typeface="Calibri"/>
              </a:rPr>
              <a:t>performance measure, percept sequence, prior knowledge, available actions.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 b="1">
                <a:solidFill>
                  <a:srgbClr val="1F3764"/>
                </a:solidFill>
                <a:latin typeface="Calibri"/>
              </a:rPr>
              <a:t>Structure: </a:t>
            </a:r>
            <a:r>
              <a:rPr sz="1500">
                <a:solidFill>
                  <a:srgbClr val="444444"/>
                </a:solidFill>
                <a:latin typeface="Calibri"/>
              </a:rPr>
              <a:t>Agent = Architecture + Agent Program.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08960"/>
            <a:ext cx="11064240" cy="5029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11064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PEAS  —  Performance, Environment, Actuators, Sensors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3749039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377440"/>
                <a:gridCol w="2194560"/>
                <a:gridCol w="2194560"/>
                <a:gridCol w="237744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Performance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Environment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Actuators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Sensors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3764"/>
                          </a:solidFill>
                          <a:latin typeface="Calibri"/>
                        </a:rPr>
                        <a:t>Autonomous taxi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Safe, fast, legal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Roads, traffic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Steering, brake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Cameras, lidar, GPS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3764"/>
                          </a:solidFill>
                          <a:latin typeface="Calibri"/>
                        </a:rPr>
                        <a:t>Vacuum cleaner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Cleanliness, efficiency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Rooms, carpet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Wheels, brush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Bump/dirt sensors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F3764"/>
                          </a:solidFill>
                          <a:latin typeface="Calibri"/>
                        </a:rPr>
                        <a:t>Medical diagnosis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Correct diagnosis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Patient, hospital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Display diagnosis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444444"/>
                          </a:solidFill>
                          <a:latin typeface="Calibri"/>
                        </a:rPr>
                        <a:t>Symptoms, tests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Hour 3 — Recap &amp;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9A24A"/>
                </a:solidFill>
              </a:rPr>
              <a:t>▪  </a:t>
            </a:r>
            <a:r>
              <a:rPr sz="1700" b="1">
                <a:solidFill>
                  <a:srgbClr val="1F3764"/>
                </a:solidFill>
                <a:latin typeface="Calibri"/>
              </a:rPr>
              <a:t>List: </a:t>
            </a:r>
            <a:r>
              <a:rPr sz="1700">
                <a:solidFill>
                  <a:srgbClr val="444444"/>
                </a:solidFill>
                <a:latin typeface="Calibri"/>
              </a:rPr>
              <a:t>Gardner's intelligence types and five components of intelligence.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9A24A"/>
                </a:solidFill>
              </a:rPr>
              <a:t>▪  </a:t>
            </a:r>
            <a:r>
              <a:rPr sz="1700" b="1">
                <a:solidFill>
                  <a:srgbClr val="1F3764"/>
                </a:solidFill>
                <a:latin typeface="Calibri"/>
              </a:rPr>
              <a:t>Define: </a:t>
            </a:r>
            <a:r>
              <a:rPr sz="1700">
                <a:solidFill>
                  <a:srgbClr val="444444"/>
                </a:solidFill>
                <a:latin typeface="Calibri"/>
              </a:rPr>
              <a:t>agent, percept, percept sequence, agent function, rationality.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9A24A"/>
                </a:solidFill>
              </a:rPr>
              <a:t>▪  </a:t>
            </a:r>
            <a:r>
              <a:rPr sz="1700" b="1">
                <a:solidFill>
                  <a:srgbClr val="1F3764"/>
                </a:solidFill>
                <a:latin typeface="Calibri"/>
              </a:rPr>
              <a:t>Apply: </a:t>
            </a:r>
            <a:r>
              <a:rPr sz="1700">
                <a:solidFill>
                  <a:srgbClr val="444444"/>
                </a:solidFill>
                <a:latin typeface="Calibri"/>
              </a:rPr>
              <a:t>write a PEAS description for an autonomous taxi.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57600"/>
            <a:ext cx="11064240" cy="2377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Explain agent structure with a diagram; list sensors/effectors. (VTU, 8 marks)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Define rational agent; explain factors of rationality. (VTU, 10 marks)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Give PEAS for (a) satellite image analysis (b) vacuum cleaner. (GATE/VTU)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Differentiate inductive and deductive reasoning with examples. (VTU, 6 marks)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C9A24A"/>
                </a:solidFill>
                <a:latin typeface="Calibri"/>
              </a:rPr>
              <a:t>HOUR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Agent Types &amp;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CDDDEF"/>
                </a:solidFill>
                <a:latin typeface="Calibri"/>
              </a:rPr>
              <a:t>Reflex · Model · Goal · Utility · Learning  |  Environment dimensions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Types of Intelligent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840480"/>
                <a:gridCol w="5120640"/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Agent Type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Basis of Action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Key Point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764"/>
                          </a:solidFill>
                          <a:latin typeface="Calibri"/>
                        </a:rPr>
                        <a:t>Simple reflex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Current percept only; condition–action rules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Needs fully observable env; may loop if partial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764"/>
                          </a:solidFill>
                          <a:latin typeface="Calibri"/>
                        </a:rPr>
                        <a:t>Model-based reflex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Internal state + model of world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Handles partial observability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764"/>
                          </a:solidFill>
                          <a:latin typeface="Calibri"/>
                        </a:rPr>
                        <a:t>Goal-based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Actions chosen to reach goals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Explicit goal knowledge; flexible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764"/>
                          </a:solidFill>
                          <a:latin typeface="Calibri"/>
                        </a:rPr>
                        <a:t>Utility-based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Maximise expected utility ('happiness')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Handles conflicting goals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3764"/>
                          </a:solidFill>
                          <a:latin typeface="Calibri"/>
                        </a:rPr>
                        <a:t>Learning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Learning element + critic + performance + problem generator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444444"/>
                          </a:solidFill>
                          <a:latin typeface="Calibri"/>
                        </a:rPr>
                        <a:t>Improves from experience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Learning Agent &amp; Types of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3764"/>
                </a:solidFill>
                <a:latin typeface="Calibri"/>
              </a:rPr>
              <a:t>Learning agent components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377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Learning
Element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46080" y="1833372"/>
            <a:ext cx="47816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44240" y="1554480"/>
            <a:ext cx="2377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Critic
(feedback)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41680" y="1833372"/>
            <a:ext cx="47816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9840" y="1554480"/>
            <a:ext cx="2377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Performance
Element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37280" y="1833372"/>
            <a:ext cx="47816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35440" y="1554480"/>
            <a:ext cx="23774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Problem
Generator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97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3764"/>
                </a:solidFill>
                <a:latin typeface="Calibri"/>
              </a:rPr>
              <a:t>Environment dimensions (classify any task)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1089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120640"/>
                <a:gridCol w="3657600"/>
              </a:tblGrid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764"/>
                          </a:solidFill>
                          <a:latin typeface="Calibri"/>
                        </a:rPr>
                        <a:t>Observable / Partial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Complete state from percepts?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Chess (full); Kriegspiel (partial)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764"/>
                          </a:solidFill>
                          <a:latin typeface="Calibri"/>
                        </a:rPr>
                        <a:t>Deterministic / Stochastic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Next state fixed by state+action?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Chess; ludo/dice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764"/>
                          </a:solidFill>
                          <a:latin typeface="Calibri"/>
                        </a:rPr>
                        <a:t>Static / Dynamic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Changes while agent acts?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Crossword; self-driving car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764"/>
                          </a:solidFill>
                          <a:latin typeface="Calibri"/>
                        </a:rPr>
                        <a:t>Discrete / Continuous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Finite states/actions?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Chess; driving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764"/>
                          </a:solidFill>
                          <a:latin typeface="Calibri"/>
                        </a:rPr>
                        <a:t>Single / Multi-agent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One or several agents?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Vacuum; chess (competitive)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3764"/>
                          </a:solidFill>
                          <a:latin typeface="Calibri"/>
                        </a:rPr>
                        <a:t>Episodic / Sequential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Decisions affect future?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444444"/>
                          </a:solidFill>
                          <a:latin typeface="Calibri"/>
                        </a:rPr>
                        <a:t>Anomaly detection; chess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Hour 4 — Recap &amp;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9A24A"/>
                </a:solidFill>
              </a:rPr>
              <a:t>▪  </a:t>
            </a:r>
            <a:r>
              <a:rPr sz="1700" b="1">
                <a:solidFill>
                  <a:srgbClr val="1F3764"/>
                </a:solidFill>
                <a:latin typeface="Calibri"/>
              </a:rPr>
              <a:t>Compare: </a:t>
            </a:r>
            <a:r>
              <a:rPr sz="1700">
                <a:solidFill>
                  <a:srgbClr val="444444"/>
                </a:solidFill>
                <a:latin typeface="Calibri"/>
              </a:rPr>
              <a:t>five agent types by what they use to choose actions.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9A24A"/>
                </a:solidFill>
              </a:rPr>
              <a:t>▪  </a:t>
            </a:r>
            <a:r>
              <a:rPr sz="1700" b="1">
                <a:solidFill>
                  <a:srgbClr val="1F3764"/>
                </a:solidFill>
                <a:latin typeface="Calibri"/>
              </a:rPr>
              <a:t>Classify: </a:t>
            </a:r>
            <a:r>
              <a:rPr sz="1700">
                <a:solidFill>
                  <a:srgbClr val="444444"/>
                </a:solidFill>
                <a:latin typeface="Calibri"/>
              </a:rPr>
              <a:t>chess, self-driving car, vacuum, ludo across environment dimensions.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9A24A"/>
                </a:solidFill>
              </a:rPr>
              <a:t>▪  </a:t>
            </a:r>
            <a:r>
              <a:rPr sz="1700" b="1">
                <a:solidFill>
                  <a:srgbClr val="1F3764"/>
                </a:solidFill>
                <a:latin typeface="Calibri"/>
              </a:rPr>
              <a:t>Explain: </a:t>
            </a:r>
            <a:r>
              <a:rPr sz="1700">
                <a:solidFill>
                  <a:srgbClr val="444444"/>
                </a:solidFill>
                <a:latin typeface="Calibri"/>
              </a:rPr>
              <a:t>four components of a learning agent.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57600"/>
            <a:ext cx="11064240" cy="2377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Explain agent-program types with diagrams. (VTU, 12 marks)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Differentiate fully/partial, deterministic/stochastic, static/dynamic, episodic/sequential environments with examples. (VTU, 10 marks)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GATE: a self-driving car is best described as — partially observable, stochastic, dynamic, continuous, multi-agent.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What is PEAS? Give PEAS for an autonomous taxi. (VTU, 6 marks)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C9A24A"/>
                </a:solidFill>
                <a:latin typeface="Calibri"/>
              </a:rPr>
              <a:t>HOUR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Uninformed Search —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CDDDEF"/>
                </a:solidFill>
                <a:latin typeface="Calibri"/>
              </a:rPr>
              <a:t>Search problem · DFS · DLS · BFS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Search Problem &amp;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 b="1">
                <a:solidFill>
                  <a:srgbClr val="1F3764"/>
                </a:solidFill>
                <a:latin typeface="Calibri"/>
              </a:rPr>
              <a:t>State space: </a:t>
            </a:r>
            <a:r>
              <a:rPr sz="1500">
                <a:solidFill>
                  <a:srgbClr val="444444"/>
                </a:solidFill>
                <a:latin typeface="Calibri"/>
              </a:rPr>
              <a:t>all states an agent can reach.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 b="1">
                <a:solidFill>
                  <a:srgbClr val="1F3764"/>
                </a:solidFill>
                <a:latin typeface="Calibri"/>
              </a:rPr>
              <a:t>Start state: </a:t>
            </a:r>
            <a:r>
              <a:rPr sz="1500">
                <a:solidFill>
                  <a:srgbClr val="444444"/>
                </a:solidFill>
                <a:latin typeface="Calibri"/>
              </a:rPr>
              <a:t>where search begins.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 b="1">
                <a:solidFill>
                  <a:srgbClr val="1F3764"/>
                </a:solidFill>
                <a:latin typeface="Calibri"/>
              </a:rPr>
              <a:t>Goal test: </a:t>
            </a:r>
            <a:r>
              <a:rPr sz="1500">
                <a:solidFill>
                  <a:srgbClr val="444444"/>
                </a:solidFill>
                <a:latin typeface="Calibri"/>
              </a:rPr>
              <a:t>is current state the goal?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 b="1">
                <a:solidFill>
                  <a:srgbClr val="1F3764"/>
                </a:solidFill>
                <a:latin typeface="Calibri"/>
              </a:rPr>
              <a:t>Solution/plan: </a:t>
            </a:r>
            <a:r>
              <a:rPr sz="1500">
                <a:solidFill>
                  <a:srgbClr val="444444"/>
                </a:solidFill>
                <a:latin typeface="Calibri"/>
              </a:rPr>
              <a:t>action sequence start→goal.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383280"/>
            <a:ext cx="11887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State
Space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757360" y="3662172"/>
            <a:ext cx="26480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42160" y="3383280"/>
            <a:ext cx="11887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Start
State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50880" y="3662172"/>
            <a:ext cx="26480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35680" y="3383280"/>
            <a:ext cx="11887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Goal
Test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44400" y="3662172"/>
            <a:ext cx="26480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0" y="3383280"/>
            <a:ext cx="11887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Solution
(Plan)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234440"/>
            <a:ext cx="5212080" cy="4572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37160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3764"/>
                </a:solidFill>
                <a:latin typeface="Calibri"/>
              </a:rPr>
              <a:t>Four evaluation properties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8288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 b="1">
                <a:solidFill>
                  <a:srgbClr val="1F3764"/>
                </a:solidFill>
                <a:latin typeface="Calibri"/>
              </a:rPr>
              <a:t>Completeness: </a:t>
            </a:r>
            <a:r>
              <a:rPr sz="1400">
                <a:solidFill>
                  <a:srgbClr val="444444"/>
                </a:solidFill>
                <a:latin typeface="Calibri"/>
              </a:rPr>
              <a:t>finds a solution if one exists.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 b="1">
                <a:solidFill>
                  <a:srgbClr val="1F3764"/>
                </a:solidFill>
                <a:latin typeface="Calibri"/>
              </a:rPr>
              <a:t>Optimality: </a:t>
            </a:r>
            <a:r>
              <a:rPr sz="1400">
                <a:solidFill>
                  <a:srgbClr val="444444"/>
                </a:solidFill>
                <a:latin typeface="Calibri"/>
              </a:rPr>
              <a:t>finds lowest-cost solution.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 b="1">
                <a:solidFill>
                  <a:srgbClr val="1F3764"/>
                </a:solidFill>
                <a:latin typeface="Calibri"/>
              </a:rPr>
              <a:t>Time complexity: </a:t>
            </a:r>
            <a:r>
              <a:rPr sz="1400">
                <a:solidFill>
                  <a:srgbClr val="444444"/>
                </a:solidFill>
                <a:latin typeface="Calibri"/>
              </a:rPr>
              <a:t>time taken.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 b="1">
                <a:solidFill>
                  <a:srgbClr val="1F3764"/>
                </a:solidFill>
                <a:latin typeface="Calibri"/>
              </a:rPr>
              <a:t>Space complexity: </a:t>
            </a:r>
            <a:r>
              <a:rPr sz="1400">
                <a:solidFill>
                  <a:srgbClr val="444444"/>
                </a:solidFill>
                <a:latin typeface="Calibri"/>
              </a:rPr>
              <a:t>memory required.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93776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444444"/>
                </a:solidFill>
                <a:latin typeface="Calibri"/>
              </a:rPr>
              <a:t>Notation: b=branching factor, d=shallowest goal depth, m=max depth, l=depth limit.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DFS, DLS &amp; BFS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554480"/>
                <a:gridCol w="2926080"/>
                <a:gridCol w="1188720"/>
                <a:gridCol w="1097280"/>
                <a:gridCol w="1463040"/>
                <a:gridCol w="1554480"/>
              </a:tblGrid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Data Structure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Complete?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Optimal?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Space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DFS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Stack (LIFO)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Goes deep, then backtracks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Finite only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O(b^m)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O(b·m)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DLS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Stack + limit l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DFS up to depth l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Within l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O(b^l)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O(b·l)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BFS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Queue (FIFO)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Level by level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If cost=1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O(b^d)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O(b^d)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75488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 b="1">
                <a:solidFill>
                  <a:srgbClr val="1F3764"/>
                </a:solidFill>
                <a:latin typeface="Calibri"/>
              </a:rPr>
              <a:t>DFS: </a:t>
            </a:r>
            <a:r>
              <a:rPr sz="1300">
                <a:solidFill>
                  <a:srgbClr val="444444"/>
                </a:solidFill>
                <a:latin typeface="Calibri"/>
              </a:rPr>
              <a:t>low memory but can loop/infinite; use cut-off depth.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 b="1">
                <a:solidFill>
                  <a:srgbClr val="1F3764"/>
                </a:solidFill>
                <a:latin typeface="Calibri"/>
              </a:rPr>
              <a:t>BFS: </a:t>
            </a:r>
            <a:r>
              <a:rPr sz="1300">
                <a:solidFill>
                  <a:srgbClr val="444444"/>
                </a:solidFill>
                <a:latin typeface="Calibri"/>
              </a:rPr>
              <a:t>finds shortest path in unweighted graphs; exponential memory; used in crawlers, GPS, P2P networks.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 b="1">
                <a:solidFill>
                  <a:srgbClr val="1F3764"/>
                </a:solidFill>
                <a:latin typeface="Calibri"/>
              </a:rPr>
              <a:t>DLS: </a:t>
            </a:r>
            <a:r>
              <a:rPr sz="1300">
                <a:solidFill>
                  <a:srgbClr val="444444"/>
                </a:solidFill>
                <a:latin typeface="Calibri"/>
              </a:rPr>
              <a:t>overcomes infinite DFS path but is incomplete if goal is beyond 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DFS vs BFS Traversal (visual)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5</a:t>
            </a:r>
          </a:p>
        </p:txBody>
      </p:sp>
      <p:pic>
        <p:nvPicPr>
          <p:cNvPr id="6" name="Picture 5" descr="Fig_3.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486400" cy="23042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9893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3764"/>
                </a:solidFill>
                <a:latin typeface="Calibri"/>
              </a:rPr>
              <a:t>Figure: DFS explores deepest node first (a,b,d,e,i,j...)</a:t>
            </a:r>
          </a:p>
        </p:txBody>
      </p:sp>
      <p:pic>
        <p:nvPicPr>
          <p:cNvPr id="8" name="Picture 7" descr="Fig_3.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80160"/>
            <a:ext cx="5486400" cy="23042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09360" y="59893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1F3764"/>
                </a:solidFill>
                <a:latin typeface="Calibri"/>
              </a:rPr>
              <a:t>Figure: BFS explores level by level (a,b,c,d...)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BFS Pseudocode &amp;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852160" cy="2926080"/>
          </a:xfrm>
          <a:prstGeom prst="rect">
            <a:avLst/>
          </a:prstGeom>
          <a:solidFill>
            <a:srgbClr val="F5F7FA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5486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F3764"/>
                </a:solidFill>
                <a:latin typeface="Consolas"/>
              </a:rPr>
              <a:t>BFS(G, s):</a:t>
            </a:r>
          </a:p>
          <a:p>
            <a:r>
              <a:rPr sz="1400">
                <a:solidFill>
                  <a:srgbClr val="1F3764"/>
                </a:solidFill>
                <a:latin typeface="Consolas"/>
              </a:rPr>
              <a:t>    Q = queue()</a:t>
            </a:r>
          </a:p>
          <a:p>
            <a:r>
              <a:rPr sz="1400">
                <a:solidFill>
                  <a:srgbClr val="1F3764"/>
                </a:solidFill>
                <a:latin typeface="Consolas"/>
              </a:rPr>
              <a:t>    Q.enqueue(s);  mark s visited</a:t>
            </a:r>
          </a:p>
          <a:p>
            <a:r>
              <a:rPr sz="1400">
                <a:solidFill>
                  <a:srgbClr val="1F3764"/>
                </a:solidFill>
                <a:latin typeface="Consolas"/>
              </a:rPr>
              <a:t>    while Q is not empty:</a:t>
            </a:r>
          </a:p>
          <a:p>
            <a:r>
              <a:rPr sz="1400">
                <a:solidFill>
                  <a:srgbClr val="1F3764"/>
                </a:solidFill>
                <a:latin typeface="Consolas"/>
              </a:rPr>
              <a:t>        v = Q.dequeue()</a:t>
            </a:r>
          </a:p>
          <a:p>
            <a:r>
              <a:rPr sz="1400">
                <a:solidFill>
                  <a:srgbClr val="1F3764"/>
                </a:solidFill>
                <a:latin typeface="Consolas"/>
              </a:rPr>
              <a:t>        for each neighbour w of v:</a:t>
            </a:r>
          </a:p>
          <a:p>
            <a:r>
              <a:rPr sz="1400">
                <a:solidFill>
                  <a:srgbClr val="1F3764"/>
                </a:solidFill>
                <a:latin typeface="Consolas"/>
              </a:rPr>
              <a:t>            if w not visited:</a:t>
            </a:r>
          </a:p>
          <a:p>
            <a:r>
              <a:rPr sz="1400">
                <a:solidFill>
                  <a:srgbClr val="1F3764"/>
                </a:solidFill>
                <a:latin typeface="Consolas"/>
              </a:rPr>
              <a:t>                Q.enqueue(w); mark w visited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>
                <a:solidFill>
                  <a:srgbClr val="444444"/>
                </a:solidFill>
                <a:latin typeface="Calibri"/>
              </a:rPr>
              <a:t>Crawlers / search-engine indexing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>
                <a:solidFill>
                  <a:srgbClr val="444444"/>
                </a:solidFill>
                <a:latin typeface="Calibri"/>
              </a:rPr>
              <a:t>GPS navigation — nearest locations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>
                <a:solidFill>
                  <a:srgbClr val="444444"/>
                </a:solidFill>
                <a:latin typeface="Calibri"/>
              </a:rPr>
              <a:t>Shortest path in unweighted graphs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>
                <a:solidFill>
                  <a:srgbClr val="444444"/>
                </a:solidFill>
                <a:latin typeface="Calibri"/>
              </a:rPr>
              <a:t>Network broadcasting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>
                <a:solidFill>
                  <a:srgbClr val="444444"/>
                </a:solidFill>
                <a:latin typeface="Calibri"/>
              </a:rPr>
              <a:t>Peer-to-peer (BitTorrent) neighbour discovery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solidFill>
            <a:srgbClr val="F3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70916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E6B3A"/>
                </a:solidFill>
                <a:latin typeface="Calibri"/>
              </a:rPr>
              <a:t>Worked example: BFS finds shallowest goal. For b=2, d=3, worst-case nodes = b+b²+b³ = 2+4+8 = 14 (plus root). DFS stores only the path O(bm); BFS stores the whole frontier O(b^d).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Hour 5 — Recap &amp;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9A24A"/>
                </a:solidFill>
              </a:rPr>
              <a:t>▪  </a:t>
            </a:r>
            <a:r>
              <a:rPr sz="1700" b="1">
                <a:solidFill>
                  <a:srgbClr val="1F3764"/>
                </a:solidFill>
                <a:latin typeface="Calibri"/>
              </a:rPr>
              <a:t>Write: </a:t>
            </a:r>
            <a:r>
              <a:rPr sz="1700">
                <a:solidFill>
                  <a:srgbClr val="444444"/>
                </a:solidFill>
                <a:latin typeface="Calibri"/>
              </a:rPr>
              <a:t>BFS pseudocode and state DFS time/space complexity.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9A24A"/>
                </a:solidFill>
              </a:rPr>
              <a:t>▪  </a:t>
            </a:r>
            <a:r>
              <a:rPr sz="1700" b="1">
                <a:solidFill>
                  <a:srgbClr val="1F3764"/>
                </a:solidFill>
                <a:latin typeface="Calibri"/>
              </a:rPr>
              <a:t>Apply: </a:t>
            </a:r>
            <a:r>
              <a:rPr sz="1700">
                <a:solidFill>
                  <a:srgbClr val="444444"/>
                </a:solidFill>
                <a:latin typeface="Calibri"/>
              </a:rPr>
              <a:t>BFS and DFS traversal on a given tree.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9A24A"/>
                </a:solidFill>
              </a:rPr>
              <a:t>▪  </a:t>
            </a:r>
            <a:r>
              <a:rPr sz="1700" b="1">
                <a:solidFill>
                  <a:srgbClr val="1F3764"/>
                </a:solidFill>
                <a:latin typeface="Calibri"/>
              </a:rPr>
              <a:t>Compare: </a:t>
            </a:r>
            <a:r>
              <a:rPr sz="1700">
                <a:solidFill>
                  <a:srgbClr val="444444"/>
                </a:solidFill>
                <a:latin typeface="Calibri"/>
              </a:rPr>
              <a:t>completeness/optimality of DFS, DLS, BFS.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57600"/>
            <a:ext cx="11064240" cy="2377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Explain DFS with a diagram; give time &amp; space complexity. (VTU, 10 marks)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Explain BFS with an example, merits/demerits. (VTU, 10 marks)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GATE: BFS uses a ___; DFS uses a ___. (queue; stack)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GATE: which guarantees shortest path in unweighted graph? — BFS.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C9A24A"/>
                </a:solidFill>
                <a:latin typeface="Calibri"/>
              </a:rPr>
              <a:t>HOUR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Uninformed Search —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CDDDEF"/>
                </a:solidFill>
                <a:latin typeface="Calibri"/>
              </a:rPr>
              <a:t>UCS · IDDFS · Bidirectional · Comparison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Uniform-Cost Search (UCS)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852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 b="1">
                <a:solidFill>
                  <a:srgbClr val="1F3764"/>
                </a:solidFill>
                <a:latin typeface="Calibri"/>
              </a:rPr>
              <a:t>Idea: </a:t>
            </a:r>
            <a:r>
              <a:rPr sz="1500">
                <a:solidFill>
                  <a:srgbClr val="444444"/>
                </a:solidFill>
                <a:latin typeface="Calibri"/>
              </a:rPr>
              <a:t>expand lowest cumulative path-cost node (priority queue).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 b="1">
                <a:solidFill>
                  <a:srgbClr val="1F3764"/>
                </a:solidFill>
                <a:latin typeface="Calibri"/>
              </a:rPr>
              <a:t>Rule: </a:t>
            </a:r>
            <a:r>
              <a:rPr sz="1500">
                <a:solidFill>
                  <a:srgbClr val="444444"/>
                </a:solidFill>
                <a:latin typeface="Calibri"/>
              </a:rPr>
              <a:t>cost(root)=0; cost(node)=sum of edge costs from root.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 b="1">
                <a:solidFill>
                  <a:srgbClr val="1F3764"/>
                </a:solidFill>
                <a:latin typeface="Calibri"/>
              </a:rPr>
              <a:t>Same as BFS </a:t>
            </a:r>
            <a:r>
              <a:rPr sz="1500">
                <a:solidFill>
                  <a:srgbClr val="444444"/>
                </a:solidFill>
                <a:latin typeface="Calibri"/>
              </a:rPr>
              <a:t>when all edge costs are equal.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 b="1">
                <a:solidFill>
                  <a:srgbClr val="1F3764"/>
                </a:solidFill>
                <a:latin typeface="Calibri"/>
              </a:rPr>
              <a:t>Complete &amp; optimal </a:t>
            </a:r>
            <a:r>
              <a:rPr sz="1500">
                <a:solidFill>
                  <a:srgbClr val="444444"/>
                </a:solidFill>
                <a:latin typeface="Calibri"/>
              </a:rPr>
              <a:t>(no zero-cost loops / negative edges).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 b="1">
                <a:solidFill>
                  <a:srgbClr val="1F3764"/>
                </a:solidFill>
                <a:latin typeface="Calibri"/>
              </a:rPr>
              <a:t>Use: </a:t>
            </a:r>
            <a:r>
              <a:rPr sz="1500">
                <a:solidFill>
                  <a:srgbClr val="444444"/>
                </a:solidFill>
                <a:latin typeface="Calibri"/>
              </a:rPr>
              <a:t>route planning with unequal distances.</a:t>
            </a:r>
          </a:p>
        </p:txBody>
      </p:sp>
      <p:pic>
        <p:nvPicPr>
          <p:cNvPr id="7" name="Picture 6" descr="Fig_3.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3028493" cy="3291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solidFill>
            <a:srgbClr val="FD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106984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B05500"/>
                </a:solidFill>
                <a:latin typeface="Calibri"/>
              </a:rPr>
              <a:t>Worked example: edges S-A(1), S-B(4), A-B(1), B-G(1), A-G(5). UCS expands S(0)→A(1)→B(2)→G(3). Path S→A→B→G, cost = 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IDDFS &amp; Bidirectional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394960" cy="4754880"/>
          </a:xfrm>
          <a:prstGeom prst="rect">
            <a:avLst/>
          </a:prstGeom>
          <a:solidFill>
            <a:srgbClr val="F3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E6B3A"/>
                </a:solidFill>
                <a:latin typeface="Calibri"/>
              </a:rPr>
              <a:t>Iterative Deepening DFS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Runs DFS with limits l=1,2,3,... until goal found.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Combines BFS completeness/optimality with DFS memory efficiency.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Complete when b is finite; optimal if cost non-decreases with depth.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Time O(b^d); Space O(b·d).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Ideal when search space is large and goal depth unknown.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Repeats upper-level work (small overhead).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5394960" cy="4754880"/>
          </a:xfrm>
          <a:prstGeom prst="rect">
            <a:avLst/>
          </a:prstGeom>
          <a:solidFill>
            <a:srgbClr val="F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5B2C8A"/>
                </a:solidFill>
                <a:latin typeface="Calibri"/>
              </a:rPr>
              <a:t>Bidirectional 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Searches forward from start AND backward from goal.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Stops when frontiers meet; each covers ~half the path.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Time/space O(b^(d/2)) — far less than O(b^d).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Complete/optimal with BFS + uniform costs.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Needs a known goal and similar branching both ways.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b=10,d=6: BFS ~10^6 nodes vs bidirectional ~2×10^3.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Comparison of Uninformed Searches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3385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828800"/>
                <a:gridCol w="1737360"/>
                <a:gridCol w="1920240"/>
                <a:gridCol w="2103120"/>
                <a:gridCol w="2011680"/>
              </a:tblGrid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Complete?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Optimal?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Space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DFS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Stack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Finite only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O(b^m)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O(b·m)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DLS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Stack + limit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Within l only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O(b^l)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O(b·l)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BFS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Queue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If cost=1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O(b^d)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O(b^d)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UCS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Priority queue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Yes*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Yes*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O(b^(1+⌊c*/ε⌋))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O(b^(1+⌊c*/ε⌋))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IDDFS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Stack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Yes (finite b)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Non-decreasing cost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O(b^d)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O(b·d)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Bidirectional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Two queues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With BFS both ways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Uniform cost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O(b^(d/2))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O(b^(d/2))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1">
                <a:solidFill>
                  <a:srgbClr val="444444"/>
                </a:solidFill>
                <a:latin typeface="Calibri"/>
              </a:rPr>
              <a:t>* complete with finite states &amp; no zero-cost loops; optimal with no negative edges. ε = minimum step cost, c* = optimal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Hour 6 — Recap &amp;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9A24A"/>
                </a:solidFill>
              </a:rPr>
              <a:t>▪  </a:t>
            </a:r>
            <a:r>
              <a:rPr sz="1700" b="1">
                <a:solidFill>
                  <a:srgbClr val="1F3764"/>
                </a:solidFill>
                <a:latin typeface="Calibri"/>
              </a:rPr>
              <a:t>Explain: </a:t>
            </a:r>
            <a:r>
              <a:rPr sz="1700">
                <a:solidFill>
                  <a:srgbClr val="444444"/>
                </a:solidFill>
                <a:latin typeface="Calibri"/>
              </a:rPr>
              <a:t>UCS priority ordering with a cost example.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9A24A"/>
                </a:solidFill>
              </a:rPr>
              <a:t>▪  </a:t>
            </a:r>
            <a:r>
              <a:rPr sz="1700" b="1">
                <a:solidFill>
                  <a:srgbClr val="1F3764"/>
                </a:solidFill>
                <a:latin typeface="Calibri"/>
              </a:rPr>
              <a:t>Justify: </a:t>
            </a:r>
            <a:r>
              <a:rPr sz="1700">
                <a:solidFill>
                  <a:srgbClr val="444444"/>
                </a:solidFill>
                <a:latin typeface="Calibri"/>
              </a:rPr>
              <a:t>when IDDFS and bidirectional search are preferred.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9A24A"/>
                </a:solidFill>
              </a:rPr>
              <a:t>▪  </a:t>
            </a:r>
            <a:r>
              <a:rPr sz="1700" b="1">
                <a:solidFill>
                  <a:srgbClr val="1F3764"/>
                </a:solidFill>
                <a:latin typeface="Calibri"/>
              </a:rPr>
              <a:t>Compare: </a:t>
            </a:r>
            <a:r>
              <a:rPr sz="1700">
                <a:solidFill>
                  <a:srgbClr val="444444"/>
                </a:solidFill>
                <a:latin typeface="Calibri"/>
              </a:rPr>
              <a:t>all six uninformed searches (memorise the table).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57600"/>
            <a:ext cx="11064240" cy="2377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What is UCS? How does it differ from BFS? (VTU, 8 marks)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Explain DLS and IDDFS with examples. (VTU, 10 marks)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Explain bidirectional search; give time &amp; space. (VTU, 8 marks)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GATE numerical: b=10,d=6 — compare BFS O(10^6) vs bidirectional O(2×10^3).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C9A24A"/>
                </a:solidFill>
                <a:latin typeface="Calibri"/>
              </a:rPr>
              <a:t>HOUR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Informed Search &amp; Knowledge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CDDDEF"/>
                </a:solidFill>
                <a:latin typeface="Calibri"/>
              </a:rPr>
              <a:t>Heuristics · Greedy best-first · What is KR · Types of knowledge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Informed (Heuristic)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9A24A"/>
                </a:solidFill>
              </a:rPr>
              <a:t>▪  </a:t>
            </a:r>
            <a:r>
              <a:rPr sz="1600" b="1">
                <a:solidFill>
                  <a:srgbClr val="1F3764"/>
                </a:solidFill>
                <a:latin typeface="Calibri"/>
              </a:rPr>
              <a:t>Informed search </a:t>
            </a:r>
            <a:r>
              <a:rPr sz="1600">
                <a:solidFill>
                  <a:srgbClr val="444444"/>
                </a:solidFill>
                <a:latin typeface="Calibri"/>
              </a:rPr>
              <a:t>uses extra knowledge (estimated distance/cost) to explore less and reach the goal faster.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 b="1">
                <a:solidFill>
                  <a:srgbClr val="C9A24A"/>
                </a:solidFill>
              </a:rPr>
              <a:t>▪  </a:t>
            </a:r>
            <a:r>
              <a:rPr sz="1600" b="1">
                <a:solidFill>
                  <a:srgbClr val="1F3764"/>
                </a:solidFill>
                <a:latin typeface="Calibri"/>
              </a:rPr>
              <a:t>Heuristic h(n): </a:t>
            </a:r>
            <a:r>
              <a:rPr sz="1600">
                <a:solidFill>
                  <a:srgbClr val="444444"/>
                </a:solidFill>
                <a:latin typeface="Calibri"/>
              </a:rPr>
              <a:t>estimates optimal cost from node n to a goal; always positive. Admissible if h(n) ≤ h*(n) (never overestimates).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26080"/>
            <a:ext cx="5394960" cy="3108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3764"/>
                </a:solidFill>
                <a:latin typeface="Calibri"/>
              </a:rPr>
              <a:t>Pure Heuristic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Expands nodes by h(n) (lowest first).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Maintains OPEN (unexpanded) and CLOSED (expanded).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Saves shorter paths; continues until goal.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926080"/>
            <a:ext cx="5394960" cy="3108960"/>
          </a:xfrm>
          <a:prstGeom prst="rect">
            <a:avLst/>
          </a:prstGeom>
          <a:solidFill>
            <a:srgbClr val="F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0632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5B2C8A"/>
                </a:solidFill>
                <a:latin typeface="Calibri"/>
              </a:rPr>
              <a:t>Greedy Best-First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520440"/>
            <a:ext cx="5029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Always expands node with smallest h(n) (closest to goal).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Priority queue; combines DFS + BFS.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Can loop; NOT optimal; worst-case O(b^m).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A* improves it by minimising f(n)=g(n)+h(n).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Greedy Best-First —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 b="1">
                <a:solidFill>
                  <a:srgbClr val="1F3764"/>
                </a:solidFill>
                <a:latin typeface="Calibri"/>
              </a:rPr>
              <a:t>OPEN/CLOSED trace: </a:t>
            </a:r>
            <a:r>
              <a:rPr sz="1500">
                <a:solidFill>
                  <a:srgbClr val="444444"/>
                </a:solidFill>
                <a:latin typeface="Calibri"/>
              </a:rPr>
              <a:t>start from S; repeatedly move the lowest-h node from OPEN to CLOSED; expand; stop when a successor is the goal.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 b="1">
                <a:solidFill>
                  <a:srgbClr val="1F3764"/>
                </a:solidFill>
                <a:latin typeface="Calibri"/>
              </a:rPr>
              <a:t>Example: </a:t>
            </a:r>
            <a:r>
              <a:rPr sz="1500">
                <a:solidFill>
                  <a:srgbClr val="444444"/>
                </a:solidFill>
                <a:latin typeface="Calibri"/>
              </a:rPr>
              <a:t>S→B (lowest h)→F→G.  Path S→B→F→G.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83464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486400"/>
                <a:gridCol w="356616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OPEN (nodes by h)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CLOSED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764"/>
                          </a:solidFill>
                          <a:latin typeface="Calibri"/>
                        </a:rPr>
                        <a:t>Start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[A, B]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[S]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764"/>
                          </a:solidFill>
                          <a:latin typeface="Calibri"/>
                        </a:rPr>
                        <a:t>1 (expand B)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[A]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[S, B]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764"/>
                          </a:solidFill>
                          <a:latin typeface="Calibri"/>
                        </a:rPr>
                        <a:t>2 (expand F)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[I, E, A]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[S, B, F]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3764"/>
                          </a:solidFill>
                          <a:latin typeface="Calibri"/>
                        </a:rPr>
                        <a:t>3 (G found)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[I, E, A]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444444"/>
                          </a:solidFill>
                          <a:latin typeface="Calibri"/>
                        </a:rPr>
                        <a:t>[S, B, F, G] → success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solidFill>
            <a:srgbClr val="F3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E6B3A"/>
                </a:solidFill>
                <a:latin typeface="Calibri"/>
              </a:rPr>
              <a:t>Limitation: greedy ignores cost-so-far g(n), so it may take a costly path or loop. A* uses f(n)=g(n)+h(n).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Knowledge Representation (KR)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 b="1">
                <a:solidFill>
                  <a:srgbClr val="1F3764"/>
                </a:solidFill>
                <a:latin typeface="Calibri"/>
              </a:rPr>
              <a:t>KR &amp; Reasoning (KRR): </a:t>
            </a:r>
            <a:r>
              <a:rPr sz="1500">
                <a:solidFill>
                  <a:srgbClr val="444444"/>
                </a:solidFill>
                <a:latin typeface="Calibri"/>
              </a:rPr>
              <a:t>part of AI about how agents think and produce intelligent behaviour.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 b="1">
                <a:solidFill>
                  <a:srgbClr val="1F3764"/>
                </a:solidFill>
                <a:latin typeface="Calibri"/>
              </a:rPr>
              <a:t>Beyond a database: </a:t>
            </a:r>
            <a:r>
              <a:rPr sz="1500">
                <a:solidFill>
                  <a:srgbClr val="444444"/>
                </a:solidFill>
                <a:latin typeface="Calibri"/>
              </a:rPr>
              <a:t>it lets the machine learn from knowledge/experience and reason to solve complex problems (diagnosis, NLP).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2377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Perception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128960" y="3067812"/>
            <a:ext cx="35624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05200" y="2743200"/>
            <a:ext cx="2377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Learning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02640" y="3067812"/>
            <a:ext cx="35624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8880" y="2743200"/>
            <a:ext cx="2377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Knowledge Rep.
&amp; Reasoning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676320" y="3067812"/>
            <a:ext cx="35624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052560" y="2743200"/>
            <a:ext cx="23774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Planning &amp;
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3764"/>
                </a:solidFill>
                <a:latin typeface="Calibri"/>
              </a:rPr>
              <a:t>What knowledge must be represented?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Objects, Events, Performance (how actions are done)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Meta-knowledge (knowledge about knowledge), Facts, Knowledge base (technical sentences)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Types of Knowledge &amp;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5486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840480"/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Meta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Knowledge about knowledge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Heuristic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Rule-of-thumb experience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Procedural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How to do something (rules, strategies)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Declarative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Facts/attributes of objects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Structural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Relationships: kind-of/part-of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309360" y="1234440"/>
            <a:ext cx="5303520" cy="301752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716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3764"/>
                </a:solidFill>
                <a:latin typeface="Calibri"/>
              </a:rPr>
              <a:t>Logic has 3 elements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 b="1">
                <a:solidFill>
                  <a:srgbClr val="1F3764"/>
                </a:solidFill>
                <a:latin typeface="Calibri"/>
              </a:rPr>
              <a:t>Syntax: </a:t>
            </a:r>
            <a:r>
              <a:rPr sz="1300">
                <a:solidFill>
                  <a:srgbClr val="444444"/>
                </a:solidFill>
                <a:latin typeface="Calibri"/>
              </a:rPr>
              <a:t>valid sentence structure.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 b="1">
                <a:solidFill>
                  <a:srgbClr val="1F3764"/>
                </a:solidFill>
                <a:latin typeface="Calibri"/>
              </a:rPr>
              <a:t>Semantics: </a:t>
            </a:r>
            <a:r>
              <a:rPr sz="1300">
                <a:solidFill>
                  <a:srgbClr val="444444"/>
                </a:solidFill>
                <a:latin typeface="Calibri"/>
              </a:rPr>
              <a:t>meaning; relates to the real world. 'Bike is riding Ram' is syntactically valid but semantically wrong.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 b="1">
                <a:solidFill>
                  <a:srgbClr val="1F3764"/>
                </a:solidFill>
                <a:latin typeface="Calibri"/>
              </a:rPr>
              <a:t>Inference: </a:t>
            </a:r>
            <a:r>
              <a:rPr sz="1300">
                <a:solidFill>
                  <a:srgbClr val="444444"/>
                </a:solidFill>
                <a:latin typeface="Calibri"/>
              </a:rPr>
              <a:t>derive conclusions using algorithms.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solidFill>
            <a:srgbClr val="F3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7091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E6B3A"/>
                </a:solidFill>
                <a:latin typeface="Calibri"/>
              </a:rPr>
              <a:t>KR requirements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749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Representational accuracy • Inferential adequacy • Inferential efficiency • Acquisitional efficiency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Hour 7 — Recap &amp;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9A24A"/>
                </a:solidFill>
              </a:rPr>
              <a:t>▪  </a:t>
            </a:r>
            <a:r>
              <a:rPr sz="1700" b="1">
                <a:solidFill>
                  <a:srgbClr val="1F3764"/>
                </a:solidFill>
                <a:latin typeface="Calibri"/>
              </a:rPr>
              <a:t>Define: </a:t>
            </a:r>
            <a:r>
              <a:rPr sz="1700">
                <a:solidFill>
                  <a:srgbClr val="444444"/>
                </a:solidFill>
                <a:latin typeface="Calibri"/>
              </a:rPr>
              <a:t>heuristic, admissibility (h ≤ h*), OPEN/CLOSED lists.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9A24A"/>
                </a:solidFill>
              </a:rPr>
              <a:t>▪  </a:t>
            </a:r>
            <a:r>
              <a:rPr sz="1700" b="1">
                <a:solidFill>
                  <a:srgbClr val="1F3764"/>
                </a:solidFill>
                <a:latin typeface="Calibri"/>
              </a:rPr>
              <a:t>Trace: </a:t>
            </a:r>
            <a:r>
              <a:rPr sz="1700">
                <a:solidFill>
                  <a:srgbClr val="444444"/>
                </a:solidFill>
                <a:latin typeface="Calibri"/>
              </a:rPr>
              <a:t>greedy best-first on a given graph.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9A24A"/>
                </a:solidFill>
              </a:rPr>
              <a:t>▪  </a:t>
            </a:r>
            <a:r>
              <a:rPr sz="1700" b="1">
                <a:solidFill>
                  <a:srgbClr val="1F3764"/>
                </a:solidFill>
                <a:latin typeface="Calibri"/>
              </a:rPr>
              <a:t>List: </a:t>
            </a:r>
            <a:r>
              <a:rPr sz="1700">
                <a:solidFill>
                  <a:srgbClr val="444444"/>
                </a:solidFill>
                <a:latin typeface="Calibri"/>
              </a:rPr>
              <a:t>five types of knowledge and the KR cycle.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57600"/>
            <a:ext cx="11064240" cy="2377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Explain greedy best-first search with an algorithm and example. (VTU, 10 marks)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What is KR? Explain the KR cycle in AI with a diagram. (VTU, 10 marks)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GATE: an admissible heuristic ____ the true cost. (never overestimates / ≤)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Differentiate syntax, semantics and logical inference. (VTU, 8 marks)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C9A24A"/>
                </a:solidFill>
                <a:latin typeface="Calibri"/>
              </a:rPr>
              <a:t>HOUR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Knowledge-Based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CDDDEF"/>
                </a:solidFill>
                <a:latin typeface="Calibri"/>
              </a:rPr>
              <a:t>KBA architecture · TELL/ASK/PERFORM · Levels · Types of knowledge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Knowledge-Based Agent (KBA)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 b="1">
                <a:solidFill>
                  <a:srgbClr val="1F3764"/>
                </a:solidFill>
                <a:latin typeface="Calibri"/>
              </a:rPr>
              <a:t>Knowledge base (KB): </a:t>
            </a:r>
            <a:r>
              <a:rPr sz="1500">
                <a:solidFill>
                  <a:srgbClr val="444444"/>
                </a:solidFill>
                <a:latin typeface="Calibri"/>
              </a:rPr>
              <a:t>stores real-world facts as sentences in a KR language.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 b="1">
                <a:solidFill>
                  <a:srgbClr val="C9A24A"/>
                </a:solidFill>
              </a:rPr>
              <a:t>▪  </a:t>
            </a:r>
            <a:r>
              <a:rPr sz="1500" b="1">
                <a:solidFill>
                  <a:srgbClr val="1F3764"/>
                </a:solidFill>
                <a:latin typeface="Calibri"/>
              </a:rPr>
              <a:t>Inference engine (IE): </a:t>
            </a:r>
            <a:r>
              <a:rPr sz="1500">
                <a:solidFill>
                  <a:srgbClr val="444444"/>
                </a:solidFill>
                <a:latin typeface="Calibri"/>
              </a:rPr>
              <a:t>derives new knowledge; agent perceives → IE consults KB → decides; learning element updates KB.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2468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Perceive
environment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37520" y="3273552"/>
            <a:ext cx="35624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13760" y="2926080"/>
            <a:ext cx="2468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Inference
Engine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02640" y="3273552"/>
            <a:ext cx="35624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8880" y="2926080"/>
            <a:ext cx="2468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⇅ Knowledge Base
(+ Learning)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67760" y="3273552"/>
            <a:ext cx="356240" cy="219456"/>
          </a:xfrm>
          <a:prstGeom prst="rightArrow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0" y="2926080"/>
            <a:ext cx="24688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64"/>
                </a:solidFill>
                <a:latin typeface="Calibri"/>
              </a:rPr>
              <a:t>Decide /
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480560"/>
            <a:ext cx="11064240" cy="15544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6177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3764"/>
                </a:solidFill>
                <a:latin typeface="Calibri"/>
              </a:rPr>
              <a:t>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 b="1">
                <a:solidFill>
                  <a:srgbClr val="1F3764"/>
                </a:solidFill>
                <a:latin typeface="Calibri"/>
              </a:rPr>
              <a:t>TELL: </a:t>
            </a:r>
            <a:r>
              <a:rPr sz="1400">
                <a:solidFill>
                  <a:srgbClr val="444444"/>
                </a:solidFill>
                <a:latin typeface="Calibri"/>
              </a:rPr>
              <a:t>add knowledge / record chosen action to KB.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 b="1">
                <a:solidFill>
                  <a:srgbClr val="1F3764"/>
                </a:solidFill>
                <a:latin typeface="Calibri"/>
              </a:rPr>
              <a:t>ASK: </a:t>
            </a:r>
            <a:r>
              <a:rPr sz="1400">
                <a:solidFill>
                  <a:srgbClr val="444444"/>
                </a:solidFill>
                <a:latin typeface="Calibri"/>
              </a:rPr>
              <a:t>query KB for which action to perform.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 b="1">
                <a:solidFill>
                  <a:srgbClr val="1F3764"/>
                </a:solidFill>
                <a:latin typeface="Calibri"/>
              </a:rPr>
              <a:t>PERFORM: </a:t>
            </a:r>
            <a:r>
              <a:rPr sz="1400">
                <a:solidFill>
                  <a:srgbClr val="444444"/>
                </a:solidFill>
                <a:latin typeface="Calibri"/>
              </a:rPr>
              <a:t>execute the selected action.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Generic KBA Program &amp;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566928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2E5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3949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1F3764"/>
                </a:solidFill>
                <a:latin typeface="Consolas"/>
              </a:rPr>
              <a:t>function KB-AGENT(percept):</a:t>
            </a:r>
          </a:p>
          <a:p>
            <a:r>
              <a:rPr sz="1250">
                <a:solidFill>
                  <a:srgbClr val="1F3764"/>
                </a:solidFill>
                <a:latin typeface="Consolas"/>
              </a:rPr>
              <a:t>  persistent: KB, t = 0</a:t>
            </a:r>
          </a:p>
          <a:p>
            <a:r>
              <a:rPr sz="1250">
                <a:solidFill>
                  <a:srgbClr val="1F3764"/>
                </a:solidFill>
                <a:latin typeface="Consolas"/>
              </a:rPr>
              <a:t>  TELL(KB, MAKE-PERCEPT-SENTENCE(percept, t))</a:t>
            </a:r>
          </a:p>
          <a:p>
            <a:r>
              <a:rPr sz="1250">
                <a:solidFill>
                  <a:srgbClr val="1F3764"/>
                </a:solidFill>
                <a:latin typeface="Consolas"/>
              </a:rPr>
              <a:t>  action = ASK(KB, MAKE-ACTION-QUERY(t))</a:t>
            </a:r>
          </a:p>
          <a:p>
            <a:r>
              <a:rPr sz="1250">
                <a:solidFill>
                  <a:srgbClr val="1F3764"/>
                </a:solidFill>
                <a:latin typeface="Consolas"/>
              </a:rPr>
              <a:t>  TELL(KB, MAKE-ACTION-SENTENCE(action, t))</a:t>
            </a:r>
          </a:p>
          <a:p>
            <a:r>
              <a:rPr sz="1250">
                <a:solidFill>
                  <a:srgbClr val="1F3764"/>
                </a:solidFill>
                <a:latin typeface="Consolas"/>
              </a:rPr>
              <a:t>  t = t + 1</a:t>
            </a:r>
          </a:p>
          <a:p>
            <a:r>
              <a:rPr sz="1250">
                <a:solidFill>
                  <a:srgbClr val="1F3764"/>
                </a:solidFill>
                <a:latin typeface="Consolas"/>
              </a:rPr>
              <a:t>  return action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234440"/>
          <a:ext cx="52120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566160"/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Knowledge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What agent knows &amp; its goals (fixes behaviour)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Logical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Knowledge encoded into logical sentences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Implementation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Physical execution of knowledge/logic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57200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 b="1">
                <a:solidFill>
                  <a:srgbClr val="1F3764"/>
                </a:solidFill>
                <a:latin typeface="Calibri"/>
              </a:rPr>
              <a:t>Design approaches: </a:t>
            </a:r>
            <a:r>
              <a:rPr sz="1300">
                <a:solidFill>
                  <a:srgbClr val="444444"/>
                </a:solidFill>
                <a:latin typeface="Calibri"/>
              </a:rPr>
              <a:t>Declarative (TELL sentences into empty KB), Procedural (encode behaviour as code, e.g. LISP/Prolog), Hybrid (used in practice).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 b="1">
                <a:solidFill>
                  <a:srgbClr val="1F3764"/>
                </a:solidFill>
                <a:latin typeface="Calibri"/>
              </a:rPr>
              <a:t>Example (AC): </a:t>
            </a:r>
            <a:r>
              <a:rPr sz="1300">
                <a:solidFill>
                  <a:srgbClr val="444444"/>
                </a:solidFill>
                <a:latin typeface="Calibri"/>
              </a:rPr>
              <a:t>knowledge = 'adjust per weather'; logical = when/how; implementation = actual thermostat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Types of Knowledge in KR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Hour 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286000"/>
                <a:gridCol w="2194560"/>
                <a:gridCol w="4937760"/>
              </a:tblGrid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Representation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Inference?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64008" marR="64008" marT="27432" marB="27432" anchor="ctr">
                    <a:solidFill>
                      <a:srgbClr val="1F3764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Simple relational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Relational tables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Very little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Student table (USN, name, marks)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Inheritable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IS-A class hierarchy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Inherits properties down the hierarchy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UG-Student IS-A Student; Zinya IS-A UG-Student</a:t>
                      </a:r>
                    </a:p>
                  </a:txBody>
                  <a:tcPr marL="64008" marR="64008" marT="27432" marB="27432" anchor="ctr">
                    <a:solidFill>
                      <a:srgbClr val="F2F5F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F3764"/>
                          </a:solidFill>
                          <a:latin typeface="Calibri"/>
                        </a:rPr>
                        <a:t>Inferential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Formal logic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Derives new facts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444444"/>
                          </a:solidFill>
                          <a:latin typeface="Calibri"/>
                        </a:rPr>
                        <a:t>Student(Diya); ∀x Student(x)→Bright(x); ⊢ Bright(Diya)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394960"/>
            <a:ext cx="11064240" cy="868680"/>
          </a:xfrm>
          <a:prstGeom prst="rect">
            <a:avLst/>
          </a:prstGeom>
          <a:solidFill>
            <a:srgbClr val="F3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E6B3A"/>
                </a:solidFill>
                <a:latin typeface="Calibri"/>
              </a:rPr>
              <a:t>Inheritable knowledge uses an IS-A hierarchy: generalised class → specialised class → instance; properties are inherited. Inferential knowledge uses formal logic to derive new facts accurately.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Hour 8 — Recap &amp;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9A24A"/>
                </a:solidFill>
              </a:rPr>
              <a:t>▪  </a:t>
            </a:r>
            <a:r>
              <a:rPr sz="1700" b="1">
                <a:solidFill>
                  <a:srgbClr val="1F3764"/>
                </a:solidFill>
                <a:latin typeface="Calibri"/>
              </a:rPr>
              <a:t>Explain: </a:t>
            </a:r>
            <a:r>
              <a:rPr sz="1700">
                <a:solidFill>
                  <a:srgbClr val="444444"/>
                </a:solidFill>
                <a:latin typeface="Calibri"/>
              </a:rPr>
              <a:t>KBA architecture and the roles of KB and inference engine.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9A24A"/>
                </a:solidFill>
              </a:rPr>
              <a:t>▪  </a:t>
            </a:r>
            <a:r>
              <a:rPr sz="1700" b="1">
                <a:solidFill>
                  <a:srgbClr val="1F3764"/>
                </a:solidFill>
                <a:latin typeface="Calibri"/>
              </a:rPr>
              <a:t>Trace: </a:t>
            </a:r>
            <a:r>
              <a:rPr sz="1700">
                <a:solidFill>
                  <a:srgbClr val="444444"/>
                </a:solidFill>
                <a:latin typeface="Calibri"/>
              </a:rPr>
              <a:t>the KB-AGENT function using TELL and ASK.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 b="1">
                <a:solidFill>
                  <a:srgbClr val="C9A24A"/>
                </a:solidFill>
              </a:rPr>
              <a:t>▪  </a:t>
            </a:r>
            <a:r>
              <a:rPr sz="1700" b="1">
                <a:solidFill>
                  <a:srgbClr val="1F3764"/>
                </a:solidFill>
                <a:latin typeface="Calibri"/>
              </a:rPr>
              <a:t>Differentiate: </a:t>
            </a:r>
            <a:r>
              <a:rPr sz="1700">
                <a:solidFill>
                  <a:srgbClr val="444444"/>
                </a:solidFill>
                <a:latin typeface="Calibri"/>
              </a:rPr>
              <a:t>relational, inheritable and inferential knowledge.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57600"/>
            <a:ext cx="11064240" cy="2377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Explain KBA architecture with a diagram. (VTU, 10 marks)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What are TELL, ASK and PERFORM? Explain the generic KBA program. (VTU, 8 marks)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Explain knowledge, logical and implementation levels with an example. (VTU, 8 marks)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>
                <a:solidFill>
                  <a:srgbClr val="444444"/>
                </a:solidFill>
                <a:latin typeface="Calibri"/>
              </a:rPr>
              <a:t>Explain relational, inheritable and inferential knowledge with examples. (VTU, 8 marks)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Module 1 — Quick Revision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 b="1">
                <a:solidFill>
                  <a:srgbClr val="1F3764"/>
                </a:solidFill>
                <a:latin typeface="Calibri"/>
              </a:rPr>
              <a:t>Definitions: </a:t>
            </a:r>
            <a:r>
              <a:rPr sz="1400">
                <a:solidFill>
                  <a:srgbClr val="444444"/>
                </a:solidFill>
                <a:latin typeface="Calibri"/>
              </a:rPr>
              <a:t>McCarthy, Turing, layman, researcher, NITI Aayog.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 b="1">
                <a:solidFill>
                  <a:srgbClr val="1F3764"/>
                </a:solidFill>
                <a:latin typeface="Calibri"/>
              </a:rPr>
              <a:t>AI types: </a:t>
            </a:r>
            <a:r>
              <a:rPr sz="1400">
                <a:solidFill>
                  <a:srgbClr val="444444"/>
                </a:solidFill>
                <a:latin typeface="Calibri"/>
              </a:rPr>
              <a:t>weak/strong by capability; reactive → limited memory → theory of mind → self-aware by function.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 b="1">
                <a:solidFill>
                  <a:srgbClr val="1F3764"/>
                </a:solidFill>
                <a:latin typeface="Calibri"/>
              </a:rPr>
              <a:t>Relationship: </a:t>
            </a:r>
            <a:r>
              <a:rPr sz="1400">
                <a:solidFill>
                  <a:srgbClr val="444444"/>
                </a:solidFill>
                <a:latin typeface="Calibri"/>
              </a:rPr>
              <a:t>AI ⊃ ML ⊃ Deep Learning; augmented/cognitive differ from true AI.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 b="1">
                <a:solidFill>
                  <a:srgbClr val="1F3764"/>
                </a:solidFill>
                <a:latin typeface="Calibri"/>
              </a:rPr>
              <a:t>Agents: </a:t>
            </a:r>
            <a:r>
              <a:rPr sz="1400">
                <a:solidFill>
                  <a:srgbClr val="444444"/>
                </a:solidFill>
                <a:latin typeface="Calibri"/>
              </a:rPr>
              <a:t>Agent = Architecture + Program; PEAS; five agent types; eight environment dimensions.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 b="1">
                <a:solidFill>
                  <a:srgbClr val="1F3764"/>
                </a:solidFill>
                <a:latin typeface="Calibri"/>
              </a:rPr>
              <a:t>Uninformed search: </a:t>
            </a:r>
            <a:r>
              <a:rPr sz="1400">
                <a:solidFill>
                  <a:srgbClr val="444444"/>
                </a:solidFill>
                <a:latin typeface="Calibri"/>
              </a:rPr>
              <a:t>DFS O(bm) space, BFS optimal at cost=1, UCS for unequal costs, IDDFS depth-unknown, bidirectional O(b^(d/2)).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 b="1">
                <a:solidFill>
                  <a:srgbClr val="1F3764"/>
                </a:solidFill>
                <a:latin typeface="Calibri"/>
              </a:rPr>
              <a:t>Informed search: </a:t>
            </a:r>
            <a:r>
              <a:rPr sz="1400">
                <a:solidFill>
                  <a:srgbClr val="444444"/>
                </a:solidFill>
                <a:latin typeface="Calibri"/>
              </a:rPr>
              <a:t>heuristic h(n), admissibility h≤h*, greedy (not optimal), A* uses f=g+h.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 b="1">
                <a:solidFill>
                  <a:srgbClr val="1F3764"/>
                </a:solidFill>
                <a:latin typeface="Calibri"/>
              </a:rPr>
              <a:t>KR: </a:t>
            </a:r>
            <a:r>
              <a:rPr sz="1400">
                <a:solidFill>
                  <a:srgbClr val="444444"/>
                </a:solidFill>
                <a:latin typeface="Calibri"/>
              </a:rPr>
              <a:t>cycle perception→learning→KRR→planning; five knowledge types; KBA = KB + IE with TELL/ASK/PERFORM.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9A24A"/>
                </a:solidFill>
              </a:rPr>
              <a:t>▪  </a:t>
            </a:r>
            <a:r>
              <a:rPr sz="1400" b="1">
                <a:solidFill>
                  <a:srgbClr val="1F3764"/>
                </a:solidFill>
                <a:latin typeface="Calibri"/>
              </a:rPr>
              <a:t>Knowledge types: </a:t>
            </a:r>
            <a:r>
              <a:rPr sz="1400">
                <a:solidFill>
                  <a:srgbClr val="444444"/>
                </a:solidFill>
                <a:latin typeface="Calibri"/>
              </a:rPr>
              <a:t>simple relational, inheritable (IS-A), inferential (formal logic).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How to Prepare for Internals &amp;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0" y="201168"/>
            <a:ext cx="30175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C9A24A"/>
                </a:solidFill>
                <a:latin typeface="Calibri"/>
              </a:rPr>
              <a:t>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566160" cy="4572000"/>
          </a:xfrm>
          <a:prstGeom prst="rect">
            <a:avLst/>
          </a:prstGeom>
          <a:solidFill>
            <a:srgbClr val="F3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E6B3A"/>
                </a:solidFill>
                <a:latin typeface="Calibri"/>
              </a:rPr>
              <a:t>Bloom L1–L6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L1 Recall definitions/dates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L2 Explain concepts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L3 Apply to examples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L4 Compare/analyse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L5 Evaluate/judge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L6 Design a system/PEAS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566160" cy="4572000"/>
          </a:xfrm>
          <a:prstGeom prst="rect">
            <a:avLst/>
          </a:prstGeom>
          <a:solidFill>
            <a:srgbClr val="F5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173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5B2C8A"/>
                </a:solidFill>
                <a:latin typeface="Calibri"/>
              </a:rPr>
              <a:t>GATE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659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Search complexity (BFS/DFS/UCS)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Greedy/A* and admissibility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PEAS &amp; environment types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BFS/DFS traversal orders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Agent function/rationality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ML vs traditional programming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280160"/>
            <a:ext cx="3566160" cy="4572000"/>
          </a:xfrm>
          <a:prstGeom prst="rect">
            <a:avLst/>
          </a:prstGeom>
          <a:solidFill>
            <a:srgbClr val="FD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173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B05500"/>
                </a:solidFill>
                <a:latin typeface="Calibri"/>
              </a:rPr>
              <a:t>VTU End-Sem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659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20-mark: agent types, searches with diagrams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10-mark: AI types, ML/DL, environments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8-mark: definitions, PEAS, KBA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Always label figures &amp; tables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9A24A"/>
                </a:solidFill>
              </a:rPr>
              <a:t>▪  </a:t>
            </a:r>
            <a:r>
              <a:rPr sz="1300">
                <a:solidFill>
                  <a:srgbClr val="444444"/>
                </a:solidFill>
                <a:latin typeface="Calibri"/>
              </a:rPr>
              <a:t>Practise traversal numerics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444444"/>
                </a:solidFill>
                <a:latin typeface="Calibri"/>
              </a:rPr>
              <a:t>VTU 1BAIA103/203 • Introduction to AI &amp; Applications • Module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 i="0">
                <a:solidFill>
                  <a:srgbClr val="1F3764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4572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CDDDEF"/>
                </a:solidFill>
                <a:latin typeface="Calibri"/>
              </a:rPr>
              <a:t>Questions &amp; Discussion</a:t>
            </a:r>
          </a:p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CDDDEF"/>
                </a:solidFill>
                <a:latin typeface="Calibri"/>
              </a:rPr>
              <a:t>Module 1 — Introduction to AI and Applications (1BAIA103/203)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0">
                <a:solidFill>
                  <a:srgbClr val="C9A24A"/>
                </a:solidFill>
                <a:latin typeface="Calibri"/>
              </a:rPr>
              <a:t>Based on notes by Dr. Lokesh M R | VTU Textbook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